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Canva Sans" panose="020B0604020202020204" charset="0"/>
      <p:regular r:id="rId15"/>
    </p:embeddedFont>
    <p:embeddedFont>
      <p:font typeface="Canva Sans Bold" panose="020B0604020202020204" charset="0"/>
      <p:regular r:id="rId16"/>
    </p:embeddedFont>
    <p:embeddedFont>
      <p:font typeface="Heading Now 71-78" panose="020B0604020202020204" charset="0"/>
      <p:regular r:id="rId17"/>
    </p:embeddedFont>
    <p:embeddedFont>
      <p:font typeface="Helios" panose="020B0604020202020204" charset="0"/>
      <p:regular r:id="rId18"/>
    </p:embeddedFont>
    <p:embeddedFont>
      <p:font typeface="Helios Bold" panose="020B0604020202020204" charset="0"/>
      <p:regular r:id="rId19"/>
    </p:embeddedFont>
    <p:embeddedFont>
      <p:font typeface="Klein Bold" panose="020B0604020202020204" charset="0"/>
      <p:regular r:id="rId20"/>
    </p:embeddedFont>
    <p:embeddedFont>
      <p:font typeface="TAN Headline"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ieeexplore.ieee.org/document/10142504?utm_source=chatgpt.com" TargetMode="External"/><Relationship Id="rId2" Type="http://schemas.openxmlformats.org/officeDocument/2006/relationships/hyperlink" Target="https://in.docs.wps.com/l/sIFDcq-H2Af2v5r0G?v=v2"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ieeexplore.ieee.org/document/9917622" TargetMode="External"/><Relationship Id="rId2" Type="http://schemas.openxmlformats.org/officeDocument/2006/relationships/hyperlink" Target="https://ieeexplore.ieee.org/document/10540133" TargetMode="External"/><Relationship Id="rId1" Type="http://schemas.openxmlformats.org/officeDocument/2006/relationships/slideLayout" Target="../slideLayouts/slideLayout7.xml"/><Relationship Id="rId5" Type="http://schemas.openxmlformats.org/officeDocument/2006/relationships/hyperlink" Target="https://ieeexplore.ieee.org/document/9315984" TargetMode="External"/><Relationship Id="rId4" Type="http://schemas.openxmlformats.org/officeDocument/2006/relationships/hyperlink" Target="https://ieeexplore.ieee.org/document/921481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898560" y="-2654908"/>
            <a:ext cx="6537232" cy="6537232"/>
          </a:xfrm>
          <a:custGeom>
            <a:avLst/>
            <a:gdLst/>
            <a:ahLst/>
            <a:cxnLst/>
            <a:rect l="l" t="t" r="r" b="b"/>
            <a:pathLst>
              <a:path w="6537232" h="6537232">
                <a:moveTo>
                  <a:pt x="0" y="0"/>
                </a:moveTo>
                <a:lnTo>
                  <a:pt x="6537232" y="0"/>
                </a:lnTo>
                <a:lnTo>
                  <a:pt x="6537232" y="6537232"/>
                </a:lnTo>
                <a:lnTo>
                  <a:pt x="0" y="653723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5468147" y="-306515"/>
            <a:ext cx="5052951" cy="5052951"/>
          </a:xfrm>
          <a:custGeom>
            <a:avLst/>
            <a:gdLst/>
            <a:ahLst/>
            <a:cxnLst/>
            <a:rect l="l" t="t" r="r" b="b"/>
            <a:pathLst>
              <a:path w="5052951" h="5052951">
                <a:moveTo>
                  <a:pt x="0" y="0"/>
                </a:moveTo>
                <a:lnTo>
                  <a:pt x="5052951" y="0"/>
                </a:lnTo>
                <a:lnTo>
                  <a:pt x="5052951" y="5052952"/>
                </a:lnTo>
                <a:lnTo>
                  <a:pt x="0" y="5052952"/>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4" name="Freeform 4"/>
          <p:cNvSpPr/>
          <p:nvPr/>
        </p:nvSpPr>
        <p:spPr>
          <a:xfrm>
            <a:off x="14677706" y="6555044"/>
            <a:ext cx="5163188" cy="5163188"/>
          </a:xfrm>
          <a:custGeom>
            <a:avLst/>
            <a:gdLst/>
            <a:ahLst/>
            <a:cxnLst/>
            <a:rect l="l" t="t" r="r" b="b"/>
            <a:pathLst>
              <a:path w="5163188" h="5163188">
                <a:moveTo>
                  <a:pt x="0" y="0"/>
                </a:moveTo>
                <a:lnTo>
                  <a:pt x="5163188" y="0"/>
                </a:lnTo>
                <a:lnTo>
                  <a:pt x="5163188" y="5163188"/>
                </a:lnTo>
                <a:lnTo>
                  <a:pt x="0" y="5163188"/>
                </a:lnTo>
                <a:lnTo>
                  <a:pt x="0" y="0"/>
                </a:lnTo>
                <a:close/>
              </a:path>
            </a:pathLst>
          </a:custGeom>
          <a:blipFill>
            <a:blip>
              <a:alphaModFix amt="80000"/>
              <a:extLst>
                <a:ext uri="{96DAC541-7B7A-43D3-8B79-37D633B846F1}">
                  <asvg:svgBlip xmlns:asvg="http://schemas.microsoft.com/office/drawing/2016/SVG/main" r:embed="rId2"/>
                </a:ext>
              </a:extLst>
            </a:blip>
            <a:stretch>
              <a:fillRect/>
            </a:stretch>
          </a:blipFill>
        </p:spPr>
        <p:txBody>
          <a:bodyPr/>
          <a:lstStyle/>
          <a:p>
            <a:endParaRPr lang="en-IN" dirty="0"/>
          </a:p>
        </p:txBody>
      </p:sp>
      <p:sp>
        <p:nvSpPr>
          <p:cNvPr id="5" name="Freeform 5"/>
          <p:cNvSpPr/>
          <p:nvPr/>
        </p:nvSpPr>
        <p:spPr>
          <a:xfrm>
            <a:off x="7241396" y="0"/>
            <a:ext cx="3538010" cy="3647208"/>
          </a:xfrm>
          <a:custGeom>
            <a:avLst/>
            <a:gdLst/>
            <a:ahLst/>
            <a:cxnLst/>
            <a:rect l="l" t="t" r="r" b="b"/>
            <a:pathLst>
              <a:path w="3538010" h="3647208">
                <a:moveTo>
                  <a:pt x="0" y="0"/>
                </a:moveTo>
                <a:lnTo>
                  <a:pt x="3538010" y="0"/>
                </a:lnTo>
                <a:lnTo>
                  <a:pt x="3538010" y="3647208"/>
                </a:lnTo>
                <a:lnTo>
                  <a:pt x="0" y="3647208"/>
                </a:lnTo>
                <a:lnTo>
                  <a:pt x="0" y="0"/>
                </a:lnTo>
                <a:close/>
              </a:path>
            </a:pathLst>
          </a:custGeom>
          <a:blipFill>
            <a:blip r:embed="rId3"/>
            <a:stretch>
              <a:fillRect/>
            </a:stretch>
          </a:blipFill>
        </p:spPr>
      </p:sp>
      <p:sp>
        <p:nvSpPr>
          <p:cNvPr id="6" name="TextBox 6"/>
          <p:cNvSpPr txBox="1"/>
          <p:nvPr/>
        </p:nvSpPr>
        <p:spPr>
          <a:xfrm>
            <a:off x="4298044" y="3656837"/>
            <a:ext cx="10688160" cy="1950599"/>
          </a:xfrm>
          <a:prstGeom prst="rect">
            <a:avLst/>
          </a:prstGeom>
        </p:spPr>
        <p:txBody>
          <a:bodyPr lIns="0" tIns="0" rIns="0" bIns="0" rtlCol="0" anchor="t">
            <a:spAutoFit/>
          </a:bodyPr>
          <a:lstStyle/>
          <a:p>
            <a:pPr algn="l">
              <a:lnSpc>
                <a:spcPts val="7371"/>
              </a:lnSpc>
            </a:pPr>
            <a:r>
              <a:rPr lang="en-US" sz="5265">
                <a:solidFill>
                  <a:srgbClr val="2A2E3A"/>
                </a:solidFill>
                <a:latin typeface="Heading Now 71-78"/>
                <a:ea typeface="Heading Now 71-78"/>
                <a:cs typeface="Heading Now 71-78"/>
                <a:sym typeface="Heading Now 71-78"/>
              </a:rPr>
              <a:t>MENTAL HEALTH DETECTION USING ANN AND FUZZY LOGIC</a:t>
            </a:r>
          </a:p>
        </p:txBody>
      </p:sp>
      <p:sp>
        <p:nvSpPr>
          <p:cNvPr id="7" name="TextBox 7"/>
          <p:cNvSpPr txBox="1"/>
          <p:nvPr/>
        </p:nvSpPr>
        <p:spPr>
          <a:xfrm>
            <a:off x="5560819" y="5582857"/>
            <a:ext cx="7697867" cy="972187"/>
          </a:xfrm>
          <a:prstGeom prst="rect">
            <a:avLst/>
          </a:prstGeom>
        </p:spPr>
        <p:txBody>
          <a:bodyPr lIns="0" tIns="0" rIns="0" bIns="0" rtlCol="0" anchor="t">
            <a:spAutoFit/>
          </a:bodyPr>
          <a:lstStyle/>
          <a:p>
            <a:pPr algn="ctr">
              <a:lnSpc>
                <a:spcPts val="7839"/>
              </a:lnSpc>
              <a:spcBef>
                <a:spcPct val="0"/>
              </a:spcBef>
            </a:pPr>
            <a:r>
              <a:rPr lang="en-US" sz="5599">
                <a:solidFill>
                  <a:srgbClr val="2A2E3A"/>
                </a:solidFill>
                <a:latin typeface="Helios"/>
                <a:ea typeface="Helios"/>
                <a:cs typeface="Helios"/>
                <a:sym typeface="Helios"/>
              </a:rPr>
              <a:t>Soft computing cse2009</a:t>
            </a:r>
          </a:p>
        </p:txBody>
      </p:sp>
      <p:sp>
        <p:nvSpPr>
          <p:cNvPr id="8" name="TextBox 8"/>
          <p:cNvSpPr txBox="1"/>
          <p:nvPr/>
        </p:nvSpPr>
        <p:spPr>
          <a:xfrm>
            <a:off x="11224978" y="7923007"/>
            <a:ext cx="5352574" cy="1189749"/>
          </a:xfrm>
          <a:prstGeom prst="rect">
            <a:avLst/>
          </a:prstGeom>
        </p:spPr>
        <p:txBody>
          <a:bodyPr lIns="0" tIns="0" rIns="0" bIns="0" rtlCol="0" anchor="t">
            <a:spAutoFit/>
          </a:bodyPr>
          <a:lstStyle/>
          <a:p>
            <a:pPr algn="ctr">
              <a:lnSpc>
                <a:spcPts val="4759"/>
              </a:lnSpc>
            </a:pPr>
            <a:r>
              <a:rPr lang="en-US" sz="3399" b="1" dirty="0">
                <a:solidFill>
                  <a:srgbClr val="2A2E3A"/>
                </a:solidFill>
                <a:latin typeface="Canva Sans Bold"/>
                <a:ea typeface="Canva Sans Bold"/>
                <a:cs typeface="Canva Sans Bold"/>
                <a:sym typeface="Canva Sans Bold"/>
              </a:rPr>
              <a:t>Guided by :</a:t>
            </a:r>
          </a:p>
          <a:p>
            <a:pPr algn="ctr">
              <a:lnSpc>
                <a:spcPts val="4759"/>
              </a:lnSpc>
            </a:pPr>
            <a:r>
              <a:rPr lang="en-US" sz="3399" b="1" dirty="0">
                <a:solidFill>
                  <a:srgbClr val="2A2E3A"/>
                </a:solidFill>
                <a:latin typeface="Canva Sans Bold"/>
                <a:ea typeface="Canva Sans Bold"/>
                <a:cs typeface="Canva Sans Bold"/>
                <a:sym typeface="Canva Sans Bold"/>
              </a:rPr>
              <a:t>  DR </a:t>
            </a:r>
            <a:r>
              <a:rPr lang="en-US" sz="3399" b="1" dirty="0" err="1">
                <a:solidFill>
                  <a:srgbClr val="2A2E3A"/>
                </a:solidFill>
                <a:latin typeface="Canva Sans Bold"/>
                <a:ea typeface="Canva Sans Bold"/>
                <a:cs typeface="Canva Sans Bold"/>
                <a:sym typeface="Canva Sans Bold"/>
              </a:rPr>
              <a:t>A.Shanthi</a:t>
            </a:r>
            <a:endParaRPr lang="en-US" sz="3399" b="1" dirty="0">
              <a:solidFill>
                <a:srgbClr val="2A2E3A"/>
              </a:solidFill>
              <a:latin typeface="Canva Sans Bold"/>
              <a:ea typeface="Canva Sans Bold"/>
              <a:cs typeface="Canva Sans Bold"/>
              <a:sym typeface="Canva Sans 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53969"/>
        </a:solidFill>
        <a:effectLst/>
      </p:bgPr>
    </p:bg>
    <p:spTree>
      <p:nvGrpSpPr>
        <p:cNvPr id="1" name=""/>
        <p:cNvGrpSpPr/>
        <p:nvPr/>
      </p:nvGrpSpPr>
      <p:grpSpPr>
        <a:xfrm>
          <a:off x="0" y="0"/>
          <a:ext cx="0" cy="0"/>
          <a:chOff x="0" y="0"/>
          <a:chExt cx="0" cy="0"/>
        </a:xfrm>
      </p:grpSpPr>
      <p:grpSp>
        <p:nvGrpSpPr>
          <p:cNvPr id="2" name="Group 2"/>
          <p:cNvGrpSpPr/>
          <p:nvPr/>
        </p:nvGrpSpPr>
        <p:grpSpPr>
          <a:xfrm>
            <a:off x="9525" y="0"/>
            <a:ext cx="18100343" cy="2787518"/>
            <a:chOff x="0" y="0"/>
            <a:chExt cx="24133791" cy="3716691"/>
          </a:xfrm>
        </p:grpSpPr>
        <p:pic>
          <p:nvPicPr>
            <p:cNvPr id="3" name="Picture 3"/>
            <p:cNvPicPr>
              <a:picLocks noChangeAspect="1"/>
            </p:cNvPicPr>
            <p:nvPr/>
          </p:nvPicPr>
          <p:blipFill>
            <a:blip r:embed="rId2">
              <a:alphaModFix amt="14000"/>
            </a:blip>
            <a:srcRect t="31859" b="45025"/>
            <a:stretch>
              <a:fillRect/>
            </a:stretch>
          </p:blipFill>
          <p:spPr>
            <a:xfrm>
              <a:off x="0" y="0"/>
              <a:ext cx="24133791" cy="3716691"/>
            </a:xfrm>
            <a:prstGeom prst="rect">
              <a:avLst/>
            </a:prstGeom>
          </p:spPr>
        </p:pic>
      </p:grpSp>
      <p:grpSp>
        <p:nvGrpSpPr>
          <p:cNvPr id="4" name="Group 4"/>
          <p:cNvGrpSpPr/>
          <p:nvPr/>
        </p:nvGrpSpPr>
        <p:grpSpPr>
          <a:xfrm>
            <a:off x="0" y="2885856"/>
            <a:ext cx="18278475" cy="7401144"/>
            <a:chOff x="0" y="0"/>
            <a:chExt cx="4814084" cy="1949273"/>
          </a:xfrm>
        </p:grpSpPr>
        <p:sp>
          <p:nvSpPr>
            <p:cNvPr id="5" name="Freeform 5"/>
            <p:cNvSpPr/>
            <p:nvPr/>
          </p:nvSpPr>
          <p:spPr>
            <a:xfrm>
              <a:off x="0" y="0"/>
              <a:ext cx="4814084" cy="1949272"/>
            </a:xfrm>
            <a:custGeom>
              <a:avLst/>
              <a:gdLst/>
              <a:ahLst/>
              <a:cxnLst/>
              <a:rect l="l" t="t" r="r" b="b"/>
              <a:pathLst>
                <a:path w="4814084" h="1949272">
                  <a:moveTo>
                    <a:pt x="0" y="0"/>
                  </a:moveTo>
                  <a:lnTo>
                    <a:pt x="4814084" y="0"/>
                  </a:lnTo>
                  <a:lnTo>
                    <a:pt x="4814084" y="1949272"/>
                  </a:lnTo>
                  <a:lnTo>
                    <a:pt x="0" y="1949272"/>
                  </a:lnTo>
                  <a:close/>
                </a:path>
              </a:pathLst>
            </a:custGeom>
            <a:solidFill>
              <a:srgbClr val="F4F4F4"/>
            </a:solidFill>
          </p:spPr>
        </p:sp>
        <p:sp>
          <p:nvSpPr>
            <p:cNvPr id="6" name="TextBox 6"/>
            <p:cNvSpPr txBox="1"/>
            <p:nvPr/>
          </p:nvSpPr>
          <p:spPr>
            <a:xfrm>
              <a:off x="0" y="-57150"/>
              <a:ext cx="4814084" cy="2006423"/>
            </a:xfrm>
            <a:prstGeom prst="rect">
              <a:avLst/>
            </a:prstGeom>
          </p:spPr>
          <p:txBody>
            <a:bodyPr lIns="50800" tIns="50800" rIns="50800" bIns="50800" rtlCol="0" anchor="ctr"/>
            <a:lstStyle/>
            <a:p>
              <a:pPr algn="ctr">
                <a:lnSpc>
                  <a:spcPts val="3639"/>
                </a:lnSpc>
              </a:pPr>
              <a:endParaRPr/>
            </a:p>
          </p:txBody>
        </p:sp>
      </p:grpSp>
      <p:sp>
        <p:nvSpPr>
          <p:cNvPr id="7" name="TextBox 7"/>
          <p:cNvSpPr txBox="1"/>
          <p:nvPr/>
        </p:nvSpPr>
        <p:spPr>
          <a:xfrm>
            <a:off x="4639504" y="952500"/>
            <a:ext cx="9008992" cy="1139825"/>
          </a:xfrm>
          <a:prstGeom prst="rect">
            <a:avLst/>
          </a:prstGeom>
        </p:spPr>
        <p:txBody>
          <a:bodyPr lIns="0" tIns="0" rIns="0" bIns="0" rtlCol="0" anchor="t">
            <a:spAutoFit/>
          </a:bodyPr>
          <a:lstStyle/>
          <a:p>
            <a:pPr algn="ctr">
              <a:lnSpc>
                <a:spcPts val="9099"/>
              </a:lnSpc>
            </a:pPr>
            <a:r>
              <a:rPr lang="en-US" sz="6999" b="1">
                <a:solidFill>
                  <a:srgbClr val="FFFFFF"/>
                </a:solidFill>
                <a:latin typeface="Klein Bold"/>
                <a:ea typeface="Klein Bold"/>
                <a:cs typeface="Klein Bold"/>
                <a:sym typeface="Klein Bold"/>
              </a:rPr>
              <a:t>Agenda</a:t>
            </a:r>
          </a:p>
        </p:txBody>
      </p:sp>
      <p:sp>
        <p:nvSpPr>
          <p:cNvPr id="8" name="Freeform 8"/>
          <p:cNvSpPr/>
          <p:nvPr/>
        </p:nvSpPr>
        <p:spPr>
          <a:xfrm>
            <a:off x="8333203" y="-1109791"/>
            <a:ext cx="1621594" cy="1621594"/>
          </a:xfrm>
          <a:custGeom>
            <a:avLst/>
            <a:gdLst/>
            <a:ahLst/>
            <a:cxnLst/>
            <a:rect l="l" t="t" r="r" b="b"/>
            <a:pathLst>
              <a:path w="1621594" h="1621594">
                <a:moveTo>
                  <a:pt x="0" y="0"/>
                </a:moveTo>
                <a:lnTo>
                  <a:pt x="1621594" y="0"/>
                </a:lnTo>
                <a:lnTo>
                  <a:pt x="1621594" y="1621594"/>
                </a:lnTo>
                <a:lnTo>
                  <a:pt x="0" y="162159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9" name="Freeform 9"/>
          <p:cNvSpPr/>
          <p:nvPr/>
        </p:nvSpPr>
        <p:spPr>
          <a:xfrm>
            <a:off x="8333203" y="9678747"/>
            <a:ext cx="1621594" cy="1621594"/>
          </a:xfrm>
          <a:custGeom>
            <a:avLst/>
            <a:gdLst/>
            <a:ahLst/>
            <a:cxnLst/>
            <a:rect l="l" t="t" r="r" b="b"/>
            <a:pathLst>
              <a:path w="1621594" h="1621594">
                <a:moveTo>
                  <a:pt x="0" y="0"/>
                </a:moveTo>
                <a:lnTo>
                  <a:pt x="1621594" y="0"/>
                </a:lnTo>
                <a:lnTo>
                  <a:pt x="1621594" y="1621594"/>
                </a:lnTo>
                <a:lnTo>
                  <a:pt x="0" y="162159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0" name="TextBox 10"/>
          <p:cNvSpPr txBox="1"/>
          <p:nvPr/>
        </p:nvSpPr>
        <p:spPr>
          <a:xfrm>
            <a:off x="2356486" y="3001758"/>
            <a:ext cx="6306105" cy="7954644"/>
          </a:xfrm>
          <a:prstGeom prst="rect">
            <a:avLst/>
          </a:prstGeom>
        </p:spPr>
        <p:txBody>
          <a:bodyPr lIns="0" tIns="0" rIns="0" bIns="0" rtlCol="0" anchor="t">
            <a:spAutoFit/>
          </a:bodyPr>
          <a:lstStyle/>
          <a:p>
            <a:pPr marL="906795" lvl="1" indent="-453397" algn="l">
              <a:lnSpc>
                <a:spcPts val="5460"/>
              </a:lnSpc>
              <a:buFont typeface="Arial"/>
              <a:buChar char="•"/>
            </a:pPr>
            <a:r>
              <a:rPr lang="en-US" sz="4200" b="1">
                <a:solidFill>
                  <a:srgbClr val="000000"/>
                </a:solidFill>
                <a:latin typeface="Klein Bold"/>
                <a:ea typeface="Klein Bold"/>
                <a:cs typeface="Klein Bold"/>
                <a:sym typeface="Klein Bold"/>
              </a:rPr>
              <a:t>Introduction</a:t>
            </a:r>
          </a:p>
          <a:p>
            <a:pPr algn="l">
              <a:lnSpc>
                <a:spcPts val="5460"/>
              </a:lnSpc>
            </a:pPr>
            <a:endParaRPr lang="en-US" sz="4200" b="1">
              <a:solidFill>
                <a:srgbClr val="000000"/>
              </a:solidFill>
              <a:latin typeface="Klein Bold"/>
              <a:ea typeface="Klein Bold"/>
              <a:cs typeface="Klein Bold"/>
              <a:sym typeface="Klein Bold"/>
            </a:endParaRPr>
          </a:p>
          <a:p>
            <a:pPr marL="906795" lvl="1" indent="-453397" algn="l">
              <a:lnSpc>
                <a:spcPts val="5460"/>
              </a:lnSpc>
              <a:buFont typeface="Arial"/>
              <a:buChar char="•"/>
            </a:pPr>
            <a:r>
              <a:rPr lang="en-US" sz="4200" b="1">
                <a:solidFill>
                  <a:srgbClr val="000000"/>
                </a:solidFill>
                <a:latin typeface="Klein Bold"/>
                <a:ea typeface="Klein Bold"/>
                <a:cs typeface="Klein Bold"/>
                <a:sym typeface="Klein Bold"/>
              </a:rPr>
              <a:t>Literature survey</a:t>
            </a:r>
          </a:p>
          <a:p>
            <a:pPr algn="l">
              <a:lnSpc>
                <a:spcPts val="5980"/>
              </a:lnSpc>
            </a:pPr>
            <a:endParaRPr lang="en-US" sz="4200" b="1">
              <a:solidFill>
                <a:srgbClr val="000000"/>
              </a:solidFill>
              <a:latin typeface="Klein Bold"/>
              <a:ea typeface="Klein Bold"/>
              <a:cs typeface="Klein Bold"/>
              <a:sym typeface="Klein Bold"/>
            </a:endParaRPr>
          </a:p>
          <a:p>
            <a:pPr marL="906795" lvl="1" indent="-453397" algn="l">
              <a:lnSpc>
                <a:spcPts val="5460"/>
              </a:lnSpc>
              <a:buFont typeface="Arial"/>
              <a:buChar char="•"/>
            </a:pPr>
            <a:r>
              <a:rPr lang="en-US" sz="4200" b="1">
                <a:solidFill>
                  <a:srgbClr val="000000"/>
                </a:solidFill>
                <a:latin typeface="Klein Bold"/>
                <a:ea typeface="Klein Bold"/>
                <a:cs typeface="Klein Bold"/>
                <a:sym typeface="Klein Bold"/>
              </a:rPr>
              <a:t>Problem statement</a:t>
            </a:r>
          </a:p>
          <a:p>
            <a:pPr algn="l">
              <a:lnSpc>
                <a:spcPts val="5980"/>
              </a:lnSpc>
            </a:pPr>
            <a:endParaRPr lang="en-US" sz="4200" b="1">
              <a:solidFill>
                <a:srgbClr val="000000"/>
              </a:solidFill>
              <a:latin typeface="Klein Bold"/>
              <a:ea typeface="Klein Bold"/>
              <a:cs typeface="Klein Bold"/>
              <a:sym typeface="Klein Bold"/>
            </a:endParaRPr>
          </a:p>
          <a:p>
            <a:pPr marL="993152" lvl="1" indent="-496576" algn="l">
              <a:lnSpc>
                <a:spcPts val="5980"/>
              </a:lnSpc>
              <a:buFont typeface="Arial"/>
              <a:buChar char="•"/>
            </a:pPr>
            <a:r>
              <a:rPr lang="en-US" sz="4600" b="1">
                <a:solidFill>
                  <a:srgbClr val="000000"/>
                </a:solidFill>
                <a:latin typeface="Klein Bold"/>
                <a:ea typeface="Klein Bold"/>
                <a:cs typeface="Klein Bold"/>
                <a:sym typeface="Klein Bold"/>
              </a:rPr>
              <a:t>Objectives</a:t>
            </a:r>
          </a:p>
          <a:p>
            <a:pPr algn="l">
              <a:lnSpc>
                <a:spcPts val="5980"/>
              </a:lnSpc>
            </a:pPr>
            <a:endParaRPr lang="en-US" sz="4600" b="1">
              <a:solidFill>
                <a:srgbClr val="000000"/>
              </a:solidFill>
              <a:latin typeface="Klein Bold"/>
              <a:ea typeface="Klein Bold"/>
              <a:cs typeface="Klein Bold"/>
              <a:sym typeface="Klein Bold"/>
            </a:endParaRPr>
          </a:p>
          <a:p>
            <a:pPr marL="928384" lvl="1" indent="-464192" algn="l">
              <a:lnSpc>
                <a:spcPts val="5590"/>
              </a:lnSpc>
              <a:buFont typeface="Arial"/>
              <a:buChar char="•"/>
            </a:pPr>
            <a:r>
              <a:rPr lang="en-US" sz="4300" b="1">
                <a:solidFill>
                  <a:srgbClr val="000000"/>
                </a:solidFill>
                <a:latin typeface="Klein Bold"/>
                <a:ea typeface="Klein Bold"/>
                <a:cs typeface="Klein Bold"/>
                <a:sym typeface="Klein Bold"/>
              </a:rPr>
              <a:t>Block diagram</a:t>
            </a:r>
          </a:p>
          <a:p>
            <a:pPr algn="l">
              <a:lnSpc>
                <a:spcPts val="5980"/>
              </a:lnSpc>
            </a:pPr>
            <a:endParaRPr lang="en-US" sz="4300" b="1">
              <a:solidFill>
                <a:srgbClr val="000000"/>
              </a:solidFill>
              <a:latin typeface="Klein Bold"/>
              <a:ea typeface="Klein Bold"/>
              <a:cs typeface="Klein Bold"/>
              <a:sym typeface="Klein Bold"/>
            </a:endParaRPr>
          </a:p>
          <a:p>
            <a:pPr algn="l">
              <a:lnSpc>
                <a:spcPts val="5980"/>
              </a:lnSpc>
            </a:pPr>
            <a:endParaRPr lang="en-US" sz="4300" b="1">
              <a:solidFill>
                <a:srgbClr val="000000"/>
              </a:solidFill>
              <a:latin typeface="Klein Bold"/>
              <a:ea typeface="Klein Bold"/>
              <a:cs typeface="Klein Bold"/>
              <a:sym typeface="Klein Bold"/>
            </a:endParaRPr>
          </a:p>
        </p:txBody>
      </p:sp>
      <p:sp>
        <p:nvSpPr>
          <p:cNvPr id="11" name="TextBox 11"/>
          <p:cNvSpPr txBox="1"/>
          <p:nvPr/>
        </p:nvSpPr>
        <p:spPr>
          <a:xfrm>
            <a:off x="11009552" y="3001758"/>
            <a:ext cx="5553606" cy="6793591"/>
          </a:xfrm>
          <a:prstGeom prst="rect">
            <a:avLst/>
          </a:prstGeom>
        </p:spPr>
        <p:txBody>
          <a:bodyPr wrap="square" lIns="0" tIns="0" rIns="0" bIns="0" rtlCol="0" anchor="t">
            <a:spAutoFit/>
          </a:bodyPr>
          <a:lstStyle/>
          <a:p>
            <a:pPr marL="972157" lvl="1" indent="-486079" algn="l">
              <a:lnSpc>
                <a:spcPts val="5853"/>
              </a:lnSpc>
              <a:buFont typeface="Arial"/>
              <a:buChar char="•"/>
            </a:pPr>
            <a:r>
              <a:rPr lang="en-US" sz="4502" b="1" dirty="0">
                <a:solidFill>
                  <a:srgbClr val="000000"/>
                </a:solidFill>
                <a:latin typeface="Klein Bold"/>
                <a:ea typeface="Klein Bold"/>
                <a:cs typeface="Klein Bold"/>
                <a:sym typeface="Klein Bold"/>
              </a:rPr>
              <a:t>Base paper</a:t>
            </a:r>
          </a:p>
          <a:p>
            <a:pPr algn="l">
              <a:lnSpc>
                <a:spcPts val="5853"/>
              </a:lnSpc>
            </a:pPr>
            <a:endParaRPr lang="en-US" sz="4502" b="1" dirty="0">
              <a:solidFill>
                <a:srgbClr val="000000"/>
              </a:solidFill>
              <a:latin typeface="Klein Bold"/>
              <a:ea typeface="Klein Bold"/>
              <a:cs typeface="Klein Bold"/>
              <a:sym typeface="Klein Bold"/>
            </a:endParaRPr>
          </a:p>
          <a:p>
            <a:pPr marL="972157" lvl="1" indent="-486079" algn="l">
              <a:lnSpc>
                <a:spcPts val="5853"/>
              </a:lnSpc>
              <a:buFont typeface="Arial"/>
              <a:buChar char="•"/>
            </a:pPr>
            <a:r>
              <a:rPr lang="en-US" sz="4502" b="1" dirty="0">
                <a:solidFill>
                  <a:srgbClr val="000000"/>
                </a:solidFill>
                <a:latin typeface="Klein Bold"/>
                <a:ea typeface="Klein Bold"/>
                <a:cs typeface="Klein Bold"/>
                <a:sym typeface="Klein Bold"/>
              </a:rPr>
              <a:t>Advantages</a:t>
            </a:r>
          </a:p>
          <a:p>
            <a:pPr algn="l">
              <a:lnSpc>
                <a:spcPts val="5853"/>
              </a:lnSpc>
            </a:pPr>
            <a:endParaRPr lang="en-US" sz="4502" b="1" dirty="0">
              <a:solidFill>
                <a:srgbClr val="000000"/>
              </a:solidFill>
              <a:latin typeface="Klein Bold"/>
              <a:ea typeface="Klein Bold"/>
              <a:cs typeface="Klein Bold"/>
              <a:sym typeface="Klein Bold"/>
            </a:endParaRPr>
          </a:p>
          <a:p>
            <a:pPr marL="972157" lvl="1" indent="-486079" algn="l">
              <a:lnSpc>
                <a:spcPts val="5853"/>
              </a:lnSpc>
              <a:buFont typeface="Arial"/>
              <a:buChar char="•"/>
            </a:pPr>
            <a:r>
              <a:rPr lang="en-US" sz="4502" b="1" dirty="0">
                <a:solidFill>
                  <a:srgbClr val="000000"/>
                </a:solidFill>
                <a:latin typeface="Klein Bold"/>
                <a:ea typeface="Klein Bold"/>
                <a:cs typeface="Klein Bold"/>
                <a:sym typeface="Klein Bold"/>
              </a:rPr>
              <a:t>Disadvantages</a:t>
            </a:r>
          </a:p>
          <a:p>
            <a:pPr algn="l">
              <a:lnSpc>
                <a:spcPts val="5853"/>
              </a:lnSpc>
            </a:pPr>
            <a:endParaRPr lang="en-US" sz="4502" b="1" dirty="0">
              <a:solidFill>
                <a:srgbClr val="000000"/>
              </a:solidFill>
              <a:latin typeface="Klein Bold"/>
              <a:ea typeface="Klein Bold"/>
              <a:cs typeface="Klein Bold"/>
              <a:sym typeface="Klein Bold"/>
            </a:endParaRPr>
          </a:p>
          <a:p>
            <a:pPr marL="972157" lvl="1" indent="-486079" algn="l">
              <a:lnSpc>
                <a:spcPts val="5853"/>
              </a:lnSpc>
              <a:buFont typeface="Arial"/>
              <a:buChar char="•"/>
            </a:pPr>
            <a:r>
              <a:rPr lang="en-US" sz="4502" b="1" dirty="0">
                <a:solidFill>
                  <a:srgbClr val="000000"/>
                </a:solidFill>
                <a:latin typeface="Klein Bold"/>
                <a:ea typeface="Klein Bold"/>
                <a:cs typeface="Klein Bold"/>
                <a:sym typeface="Klein Bold"/>
              </a:rPr>
              <a:t>Conclusion</a:t>
            </a:r>
          </a:p>
          <a:p>
            <a:pPr algn="l">
              <a:lnSpc>
                <a:spcPts val="5853"/>
              </a:lnSpc>
            </a:pPr>
            <a:endParaRPr lang="en-US" sz="4502" b="1" dirty="0">
              <a:solidFill>
                <a:srgbClr val="000000"/>
              </a:solidFill>
              <a:latin typeface="Klein Bold"/>
              <a:ea typeface="Klein Bold"/>
              <a:cs typeface="Klein Bold"/>
              <a:sym typeface="Klein Bold"/>
            </a:endParaRPr>
          </a:p>
          <a:p>
            <a:pPr marL="972157" lvl="1" indent="-486079" algn="l">
              <a:lnSpc>
                <a:spcPts val="5853"/>
              </a:lnSpc>
              <a:buFont typeface="Arial"/>
              <a:buChar char="•"/>
            </a:pPr>
            <a:r>
              <a:rPr lang="en-US" sz="4502" b="1" dirty="0">
                <a:solidFill>
                  <a:srgbClr val="000000"/>
                </a:solidFill>
                <a:latin typeface="Klein Bold"/>
                <a:ea typeface="Klein Bold"/>
                <a:cs typeface="Klein Bold"/>
                <a:sym typeface="Klein Bold"/>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0" y="7959132"/>
          <a:ext cx="17772504" cy="3078745"/>
        </p:xfrm>
        <a:graphic>
          <a:graphicData uri="http://schemas.openxmlformats.org/drawingml/2006/table">
            <a:tbl>
              <a:tblPr/>
              <a:tblGrid>
                <a:gridCol w="821572">
                  <a:extLst>
                    <a:ext uri="{9D8B030D-6E8A-4147-A177-3AD203B41FA5}">
                      <a16:colId xmlns:a16="http://schemas.microsoft.com/office/drawing/2014/main" val="20000"/>
                    </a:ext>
                  </a:extLst>
                </a:gridCol>
                <a:gridCol w="16950932">
                  <a:extLst>
                    <a:ext uri="{9D8B030D-6E8A-4147-A177-3AD203B41FA5}">
                      <a16:colId xmlns:a16="http://schemas.microsoft.com/office/drawing/2014/main" val="20001"/>
                    </a:ext>
                  </a:extLst>
                </a:gridCol>
              </a:tblGrid>
              <a:tr h="1954795">
                <a:tc>
                  <a:txBody>
                    <a:bodyPr/>
                    <a:lstStyle/>
                    <a:p>
                      <a:pPr algn="l">
                        <a:lnSpc>
                          <a:spcPts val="5599"/>
                        </a:lnSpc>
                        <a:defRPr/>
                      </a:pPr>
                      <a:r>
                        <a:rPr lang="en-US" sz="3999">
                          <a:solidFill>
                            <a:srgbClr val="1B4061"/>
                          </a:solidFill>
                          <a:latin typeface="Helios"/>
                          <a:ea typeface="Helios"/>
                          <a:cs typeface="Helios"/>
                          <a:sym typeface="Helios"/>
                        </a:rPr>
                        <a:t>4</a:t>
                      </a:r>
                      <a:endParaRPr lang="en-US" sz="1100"/>
                    </a:p>
                  </a:txBody>
                  <a:tcPr marL="76200" marR="76200" marT="76200" marB="76200" anchor="ctr">
                    <a:lnL w="0" cap="flat" cmpd="sng" algn="ctr">
                      <a:solidFill>
                        <a:srgbClr val="141E32"/>
                      </a:solidFill>
                      <a:prstDash val="solid"/>
                      <a:round/>
                      <a:headEnd type="none" w="med" len="med"/>
                      <a:tailEnd type="none" w="med" len="med"/>
                    </a:lnL>
                    <a:lnR w="0" cap="flat" cmpd="sng" algn="ctr">
                      <a:solidFill>
                        <a:srgbClr val="141E32"/>
                      </a:solidFill>
                      <a:prstDash val="solid"/>
                      <a:round/>
                      <a:headEnd type="none" w="med" len="med"/>
                      <a:tailEnd type="none" w="med" len="med"/>
                    </a:lnR>
                    <a:lnT w="0" cap="flat" cmpd="sng" algn="ctr">
                      <a:solidFill>
                        <a:srgbClr val="141E32"/>
                      </a:solidFill>
                      <a:prstDash val="solid"/>
                      <a:round/>
                      <a:headEnd type="none" w="med" len="med"/>
                      <a:tailEnd type="none" w="med" len="med"/>
                    </a:lnT>
                    <a:lnB w="0" cap="flat" cmpd="sng" algn="ctr">
                      <a:solidFill>
                        <a:srgbClr val="141E32"/>
                      </a:solidFill>
                      <a:prstDash val="solid"/>
                      <a:round/>
                      <a:headEnd type="none" w="med" len="med"/>
                      <a:tailEnd type="none" w="med" len="med"/>
                    </a:lnB>
                  </a:tcPr>
                </a:tc>
                <a:tc>
                  <a:txBody>
                    <a:bodyPr/>
                    <a:lstStyle/>
                    <a:p>
                      <a:pPr algn="l">
                        <a:lnSpc>
                          <a:spcPts val="5599"/>
                        </a:lnSpc>
                        <a:defRPr/>
                      </a:pPr>
                      <a:r>
                        <a:rPr lang="en-US" sz="3999">
                          <a:solidFill>
                            <a:srgbClr val="2A2E3A"/>
                          </a:solidFill>
                          <a:latin typeface="Helios"/>
                          <a:ea typeface="Helios"/>
                          <a:cs typeface="Helios"/>
                          <a:sym typeface="Helios"/>
                        </a:rPr>
                        <a:t>The community is made up of working professionals, college students, and high school students.</a:t>
                      </a:r>
                      <a:endParaRPr lang="en-US" sz="1100"/>
                    </a:p>
                  </a:txBody>
                  <a:tcPr marL="76200" marR="76200" marT="76200" marB="76200" anchor="ctr">
                    <a:lnL w="0" cap="flat" cmpd="sng" algn="ctr">
                      <a:solidFill>
                        <a:srgbClr val="141E32"/>
                      </a:solidFill>
                      <a:prstDash val="solid"/>
                      <a:round/>
                      <a:headEnd type="none" w="med" len="med"/>
                      <a:tailEnd type="none" w="med" len="med"/>
                    </a:lnL>
                    <a:lnR w="0" cap="flat" cmpd="sng" algn="ctr">
                      <a:solidFill>
                        <a:srgbClr val="141E32"/>
                      </a:solidFill>
                      <a:prstDash val="solid"/>
                      <a:round/>
                      <a:headEnd type="none" w="med" len="med"/>
                      <a:tailEnd type="none" w="med" len="med"/>
                    </a:lnR>
                    <a:lnT w="0" cap="flat" cmpd="sng" algn="ctr">
                      <a:solidFill>
                        <a:srgbClr val="141E32"/>
                      </a:solidFill>
                      <a:prstDash val="solid"/>
                      <a:round/>
                      <a:headEnd type="none" w="med" len="med"/>
                      <a:tailEnd type="none" w="med" len="med"/>
                    </a:lnT>
                    <a:lnB w="0" cap="flat" cmpd="sng" algn="ctr">
                      <a:solidFill>
                        <a:srgbClr val="141E32"/>
                      </a:solidFill>
                      <a:prstDash val="solid"/>
                      <a:round/>
                      <a:headEnd type="none" w="med" len="med"/>
                      <a:tailEnd type="none" w="med" len="med"/>
                    </a:lnB>
                  </a:tcPr>
                </a:tc>
                <a:extLst>
                  <a:ext uri="{0D108BD9-81ED-4DB2-BD59-A6C34878D82A}">
                    <a16:rowId xmlns:a16="http://schemas.microsoft.com/office/drawing/2014/main" val="10000"/>
                  </a:ext>
                </a:extLst>
              </a:tr>
              <a:tr h="561975">
                <a:tc>
                  <a:txBody>
                    <a:bodyPr/>
                    <a:lstStyle/>
                    <a:p>
                      <a:pPr algn="l">
                        <a:lnSpc>
                          <a:spcPts val="3079"/>
                        </a:lnSpc>
                        <a:defRPr/>
                      </a:pPr>
                      <a:endParaRPr lang="en-US" sz="1100"/>
                    </a:p>
                  </a:txBody>
                  <a:tcPr marL="76200" marR="76200" marT="76200" marB="76200" anchor="ctr">
                    <a:lnL w="0" cap="flat" cmpd="sng" algn="ctr">
                      <a:solidFill>
                        <a:srgbClr val="141E32"/>
                      </a:solidFill>
                      <a:prstDash val="solid"/>
                      <a:round/>
                      <a:headEnd type="none" w="med" len="med"/>
                      <a:tailEnd type="none" w="med" len="med"/>
                    </a:lnL>
                    <a:lnR w="0" cap="flat" cmpd="sng" algn="ctr">
                      <a:solidFill>
                        <a:srgbClr val="141E32"/>
                      </a:solidFill>
                      <a:prstDash val="solid"/>
                      <a:round/>
                      <a:headEnd type="none" w="med" len="med"/>
                      <a:tailEnd type="none" w="med" len="med"/>
                    </a:lnR>
                    <a:lnT w="0" cap="flat" cmpd="sng" algn="ctr">
                      <a:solidFill>
                        <a:srgbClr val="141E32"/>
                      </a:solidFill>
                      <a:prstDash val="solid"/>
                      <a:round/>
                      <a:headEnd type="none" w="med" len="med"/>
                      <a:tailEnd type="none" w="med" len="med"/>
                    </a:lnT>
                    <a:lnB w="0" cap="flat" cmpd="sng" algn="ctr">
                      <a:solidFill>
                        <a:srgbClr val="141E32"/>
                      </a:solidFill>
                      <a:prstDash val="solid"/>
                      <a:round/>
                      <a:headEnd type="none" w="med" len="med"/>
                      <a:tailEnd type="none" w="med" len="med"/>
                    </a:lnB>
                  </a:tcPr>
                </a:tc>
                <a:tc>
                  <a:txBody>
                    <a:bodyPr/>
                    <a:lstStyle/>
                    <a:p>
                      <a:pPr algn="l">
                        <a:lnSpc>
                          <a:spcPts val="2799"/>
                        </a:lnSpc>
                        <a:defRPr/>
                      </a:pPr>
                      <a:endParaRPr lang="en-US" sz="1100"/>
                    </a:p>
                  </a:txBody>
                  <a:tcPr marL="76200" marR="76200" marT="76200" marB="76200" anchor="ctr">
                    <a:lnL w="0" cap="flat" cmpd="sng" algn="ctr">
                      <a:solidFill>
                        <a:srgbClr val="141E32"/>
                      </a:solidFill>
                      <a:prstDash val="solid"/>
                      <a:round/>
                      <a:headEnd type="none" w="med" len="med"/>
                      <a:tailEnd type="none" w="med" len="med"/>
                    </a:lnL>
                    <a:lnR w="0" cap="flat" cmpd="sng" algn="ctr">
                      <a:solidFill>
                        <a:srgbClr val="141E32"/>
                      </a:solidFill>
                      <a:prstDash val="solid"/>
                      <a:round/>
                      <a:headEnd type="none" w="med" len="med"/>
                      <a:tailEnd type="none" w="med" len="med"/>
                    </a:lnR>
                    <a:lnT w="0" cap="flat" cmpd="sng" algn="ctr">
                      <a:solidFill>
                        <a:srgbClr val="141E32"/>
                      </a:solidFill>
                      <a:prstDash val="solid"/>
                      <a:round/>
                      <a:headEnd type="none" w="med" len="med"/>
                      <a:tailEnd type="none" w="med" len="med"/>
                    </a:lnT>
                    <a:lnB w="0" cap="flat" cmpd="sng" algn="ctr">
                      <a:solidFill>
                        <a:srgbClr val="141E32"/>
                      </a:solidFill>
                      <a:prstDash val="solid"/>
                      <a:round/>
                      <a:headEnd type="none" w="med" len="med"/>
                      <a:tailEnd type="none" w="med" len="med"/>
                    </a:lnB>
                  </a:tcPr>
                </a:tc>
                <a:extLst>
                  <a:ext uri="{0D108BD9-81ED-4DB2-BD59-A6C34878D82A}">
                    <a16:rowId xmlns:a16="http://schemas.microsoft.com/office/drawing/2014/main" val="10001"/>
                  </a:ext>
                </a:extLst>
              </a:tr>
              <a:tr h="561975">
                <a:tc>
                  <a:txBody>
                    <a:bodyPr/>
                    <a:lstStyle/>
                    <a:p>
                      <a:pPr algn="l">
                        <a:lnSpc>
                          <a:spcPts val="3079"/>
                        </a:lnSpc>
                        <a:defRPr/>
                      </a:pPr>
                      <a:r>
                        <a:rPr lang="en-US" sz="2199" b="1">
                          <a:solidFill>
                            <a:srgbClr val="1B4061"/>
                          </a:solidFill>
                          <a:latin typeface="Helios Bold"/>
                          <a:ea typeface="Helios Bold"/>
                          <a:cs typeface="Helios Bold"/>
                          <a:sym typeface="Helios Bold"/>
                        </a:rPr>
                        <a:t>6</a:t>
                      </a:r>
                      <a:endParaRPr lang="en-US" sz="1100"/>
                    </a:p>
                  </a:txBody>
                  <a:tcPr marL="76200" marR="76200" marT="76200" marB="76200" anchor="ctr">
                    <a:lnL w="0" cap="flat" cmpd="sng" algn="ctr">
                      <a:solidFill>
                        <a:srgbClr val="141E32"/>
                      </a:solidFill>
                      <a:prstDash val="solid"/>
                      <a:round/>
                      <a:headEnd type="none" w="med" len="med"/>
                      <a:tailEnd type="none" w="med" len="med"/>
                    </a:lnL>
                    <a:lnR w="0" cap="flat" cmpd="sng" algn="ctr">
                      <a:solidFill>
                        <a:srgbClr val="141E32"/>
                      </a:solidFill>
                      <a:prstDash val="solid"/>
                      <a:round/>
                      <a:headEnd type="none" w="med" len="med"/>
                      <a:tailEnd type="none" w="med" len="med"/>
                    </a:lnR>
                    <a:lnT w="0" cap="flat" cmpd="sng" algn="ctr">
                      <a:solidFill>
                        <a:srgbClr val="141E32"/>
                      </a:solidFill>
                      <a:prstDash val="solid"/>
                      <a:round/>
                      <a:headEnd type="none" w="med" len="med"/>
                      <a:tailEnd type="none" w="med" len="med"/>
                    </a:lnT>
                    <a:lnB w="0" cap="flat" cmpd="sng" algn="ctr">
                      <a:solidFill>
                        <a:srgbClr val="141E32"/>
                      </a:solidFill>
                      <a:prstDash val="solid"/>
                      <a:round/>
                      <a:headEnd type="none" w="med" len="med"/>
                      <a:tailEnd type="none" w="med" len="med"/>
                    </a:lnB>
                  </a:tcPr>
                </a:tc>
                <a:tc>
                  <a:txBody>
                    <a:bodyPr/>
                    <a:lstStyle/>
                    <a:p>
                      <a:pPr algn="l">
                        <a:lnSpc>
                          <a:spcPts val="2799"/>
                        </a:lnSpc>
                        <a:defRPr/>
                      </a:pPr>
                      <a:r>
                        <a:rPr lang="en-US" sz="1999">
                          <a:solidFill>
                            <a:srgbClr val="2A2E3A"/>
                          </a:solidFill>
                          <a:latin typeface="Helios"/>
                          <a:ea typeface="Helios"/>
                          <a:cs typeface="Helios"/>
                          <a:sym typeface="Helios"/>
                        </a:rPr>
                        <a:t>You can also record a video inside the editor! Go to 'Uploads' and click on 'Record yourself'.</a:t>
                      </a:r>
                      <a:endParaRPr lang="en-US" sz="1100"/>
                    </a:p>
                  </a:txBody>
                  <a:tcPr marL="76200" marR="76200" marT="76200" marB="76200" anchor="ctr">
                    <a:lnL w="0" cap="flat" cmpd="sng" algn="ctr">
                      <a:solidFill>
                        <a:srgbClr val="141E32"/>
                      </a:solidFill>
                      <a:prstDash val="solid"/>
                      <a:round/>
                      <a:headEnd type="none" w="med" len="med"/>
                      <a:tailEnd type="none" w="med" len="med"/>
                    </a:lnL>
                    <a:lnR w="0" cap="flat" cmpd="sng" algn="ctr">
                      <a:solidFill>
                        <a:srgbClr val="141E32"/>
                      </a:solidFill>
                      <a:prstDash val="solid"/>
                      <a:round/>
                      <a:headEnd type="none" w="med" len="med"/>
                      <a:tailEnd type="none" w="med" len="med"/>
                    </a:lnR>
                    <a:lnT w="0" cap="flat" cmpd="sng" algn="ctr">
                      <a:solidFill>
                        <a:srgbClr val="141E32"/>
                      </a:solidFill>
                      <a:prstDash val="solid"/>
                      <a:round/>
                      <a:headEnd type="none" w="med" len="med"/>
                      <a:tailEnd type="none" w="med" len="med"/>
                    </a:lnT>
                    <a:lnB w="0" cap="flat" cmpd="sng" algn="ctr">
                      <a:solidFill>
                        <a:srgbClr val="141E32"/>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3" name="Table 3"/>
          <p:cNvGraphicFramePr>
            <a:graphicFrameLocks noGrp="1"/>
          </p:cNvGraphicFramePr>
          <p:nvPr/>
        </p:nvGraphicFramePr>
        <p:xfrm>
          <a:off x="0" y="2071886"/>
          <a:ext cx="18288000" cy="5844238"/>
        </p:xfrm>
        <a:graphic>
          <a:graphicData uri="http://schemas.openxmlformats.org/drawingml/2006/table">
            <a:tbl>
              <a:tblPr/>
              <a:tblGrid>
                <a:gridCol w="437912">
                  <a:extLst>
                    <a:ext uri="{9D8B030D-6E8A-4147-A177-3AD203B41FA5}">
                      <a16:colId xmlns:a16="http://schemas.microsoft.com/office/drawing/2014/main" val="20000"/>
                    </a:ext>
                  </a:extLst>
                </a:gridCol>
                <a:gridCol w="17850088">
                  <a:extLst>
                    <a:ext uri="{9D8B030D-6E8A-4147-A177-3AD203B41FA5}">
                      <a16:colId xmlns:a16="http://schemas.microsoft.com/office/drawing/2014/main" val="20001"/>
                    </a:ext>
                  </a:extLst>
                </a:gridCol>
              </a:tblGrid>
              <a:tr h="2286000">
                <a:tc>
                  <a:txBody>
                    <a:bodyPr/>
                    <a:lstStyle/>
                    <a:p>
                      <a:pPr algn="l">
                        <a:lnSpc>
                          <a:spcPts val="5599"/>
                        </a:lnSpc>
                        <a:defRPr/>
                      </a:pPr>
                      <a:r>
                        <a:rPr lang="en-US" sz="3999">
                          <a:solidFill>
                            <a:srgbClr val="1B4061"/>
                          </a:solidFill>
                          <a:latin typeface="Helios"/>
                          <a:ea typeface="Helios"/>
                          <a:cs typeface="Helios"/>
                          <a:sym typeface="Helios"/>
                        </a:rPr>
                        <a:t>1</a:t>
                      </a:r>
                      <a:endParaRPr lang="en-US" sz="1100"/>
                    </a:p>
                  </a:txBody>
                  <a:tcPr marL="76200" marR="76200" marT="76200" marB="76200" anchor="ctr">
                    <a:lnL w="0" cap="flat" cmpd="sng" algn="ctr">
                      <a:solidFill>
                        <a:srgbClr val="141E32"/>
                      </a:solidFill>
                      <a:prstDash val="solid"/>
                      <a:round/>
                      <a:headEnd type="none" w="med" len="med"/>
                      <a:tailEnd type="none" w="med" len="med"/>
                    </a:lnL>
                    <a:lnR w="0" cap="flat" cmpd="sng" algn="ctr">
                      <a:solidFill>
                        <a:srgbClr val="141E32"/>
                      </a:solidFill>
                      <a:prstDash val="solid"/>
                      <a:round/>
                      <a:headEnd type="none" w="med" len="med"/>
                      <a:tailEnd type="none" w="med" len="med"/>
                    </a:lnR>
                    <a:lnT w="0" cap="flat" cmpd="sng" algn="ctr">
                      <a:solidFill>
                        <a:srgbClr val="141E32"/>
                      </a:solidFill>
                      <a:prstDash val="solid"/>
                      <a:round/>
                      <a:headEnd type="none" w="med" len="med"/>
                      <a:tailEnd type="none" w="med" len="med"/>
                    </a:lnT>
                    <a:lnB w="0" cap="flat" cmpd="sng" algn="ctr">
                      <a:solidFill>
                        <a:srgbClr val="141E32"/>
                      </a:solidFill>
                      <a:prstDash val="solid"/>
                      <a:round/>
                      <a:headEnd type="none" w="med" len="med"/>
                      <a:tailEnd type="none" w="med" len="med"/>
                    </a:lnB>
                  </a:tcPr>
                </a:tc>
                <a:tc>
                  <a:txBody>
                    <a:bodyPr/>
                    <a:lstStyle/>
                    <a:p>
                      <a:pPr algn="l">
                        <a:lnSpc>
                          <a:spcPts val="5599"/>
                        </a:lnSpc>
                        <a:defRPr/>
                      </a:pPr>
                      <a:r>
                        <a:rPr lang="en-US" sz="3999">
                          <a:solidFill>
                            <a:srgbClr val="000000"/>
                          </a:solidFill>
                          <a:latin typeface="Helios"/>
                          <a:ea typeface="Helios"/>
                          <a:cs typeface="Helios"/>
                          <a:sym typeface="Helios"/>
                        </a:rPr>
                        <a:t>A person's mental well-being is his or her mental condition, as well as an overview of his or her general environment. Brain chemistry abnormalities are the cause of mental illness. </a:t>
                      </a:r>
                      <a:endParaRPr lang="en-US" sz="1100"/>
                    </a:p>
                  </a:txBody>
                  <a:tcPr marL="76200" marR="76200" marT="76200" marB="76200" anchor="ctr">
                    <a:lnL w="0" cap="flat" cmpd="sng" algn="ctr">
                      <a:solidFill>
                        <a:srgbClr val="141E32"/>
                      </a:solidFill>
                      <a:prstDash val="solid"/>
                      <a:round/>
                      <a:headEnd type="none" w="med" len="med"/>
                      <a:tailEnd type="none" w="med" len="med"/>
                    </a:lnL>
                    <a:lnR w="0" cap="flat" cmpd="sng" algn="ctr">
                      <a:solidFill>
                        <a:srgbClr val="141E32"/>
                      </a:solidFill>
                      <a:prstDash val="solid"/>
                      <a:round/>
                      <a:headEnd type="none" w="med" len="med"/>
                      <a:tailEnd type="none" w="med" len="med"/>
                    </a:lnR>
                    <a:lnT w="0" cap="flat" cmpd="sng" algn="ctr">
                      <a:solidFill>
                        <a:srgbClr val="141E32"/>
                      </a:solidFill>
                      <a:prstDash val="solid"/>
                      <a:round/>
                      <a:headEnd type="none" w="med" len="med"/>
                      <a:tailEnd type="none" w="med" len="med"/>
                    </a:lnT>
                    <a:lnB w="0" cap="flat" cmpd="sng" algn="ctr">
                      <a:solidFill>
                        <a:srgbClr val="141E32"/>
                      </a:solidFill>
                      <a:prstDash val="solid"/>
                      <a:round/>
                      <a:headEnd type="none" w="med" len="med"/>
                      <a:tailEnd type="none" w="med" len="med"/>
                    </a:lnB>
                  </a:tcPr>
                </a:tc>
                <a:extLst>
                  <a:ext uri="{0D108BD9-81ED-4DB2-BD59-A6C34878D82A}">
                    <a16:rowId xmlns:a16="http://schemas.microsoft.com/office/drawing/2014/main" val="10000"/>
                  </a:ext>
                </a:extLst>
              </a:tr>
              <a:tr h="1977088">
                <a:tc>
                  <a:txBody>
                    <a:bodyPr/>
                    <a:lstStyle/>
                    <a:p>
                      <a:pPr algn="l">
                        <a:lnSpc>
                          <a:spcPts val="5599"/>
                        </a:lnSpc>
                        <a:defRPr/>
                      </a:pPr>
                      <a:r>
                        <a:rPr lang="en-US" sz="3999" b="1">
                          <a:solidFill>
                            <a:srgbClr val="1B4061"/>
                          </a:solidFill>
                          <a:latin typeface="Helios Bold"/>
                          <a:ea typeface="Helios Bold"/>
                          <a:cs typeface="Helios Bold"/>
                          <a:sym typeface="Helios Bold"/>
                        </a:rPr>
                        <a:t>2</a:t>
                      </a:r>
                      <a:endParaRPr lang="en-US" sz="1100"/>
                    </a:p>
                  </a:txBody>
                  <a:tcPr marL="76200" marR="76200" marT="76200" marB="76200" anchor="ctr">
                    <a:lnL w="0" cap="flat" cmpd="sng" algn="ctr">
                      <a:solidFill>
                        <a:srgbClr val="141E32"/>
                      </a:solidFill>
                      <a:prstDash val="solid"/>
                      <a:round/>
                      <a:headEnd type="none" w="med" len="med"/>
                      <a:tailEnd type="none" w="med" len="med"/>
                    </a:lnL>
                    <a:lnR w="0" cap="flat" cmpd="sng" algn="ctr">
                      <a:solidFill>
                        <a:srgbClr val="141E32"/>
                      </a:solidFill>
                      <a:prstDash val="solid"/>
                      <a:round/>
                      <a:headEnd type="none" w="med" len="med"/>
                      <a:tailEnd type="none" w="med" len="med"/>
                    </a:lnR>
                    <a:lnT w="0" cap="flat" cmpd="sng" algn="ctr">
                      <a:solidFill>
                        <a:srgbClr val="141E32"/>
                      </a:solidFill>
                      <a:prstDash val="solid"/>
                      <a:round/>
                      <a:headEnd type="none" w="med" len="med"/>
                      <a:tailEnd type="none" w="med" len="med"/>
                    </a:lnT>
                    <a:lnB w="0" cap="flat" cmpd="sng" algn="ctr">
                      <a:solidFill>
                        <a:srgbClr val="141E32"/>
                      </a:solidFill>
                      <a:prstDash val="solid"/>
                      <a:round/>
                      <a:headEnd type="none" w="med" len="med"/>
                      <a:tailEnd type="none" w="med" len="med"/>
                    </a:lnB>
                  </a:tcPr>
                </a:tc>
                <a:tc>
                  <a:txBody>
                    <a:bodyPr/>
                    <a:lstStyle/>
                    <a:p>
                      <a:pPr algn="l">
                        <a:lnSpc>
                          <a:spcPts val="5599"/>
                        </a:lnSpc>
                        <a:defRPr/>
                      </a:pPr>
                      <a:r>
                        <a:rPr lang="en-US" sz="3999">
                          <a:solidFill>
                            <a:srgbClr val="2A2E3A"/>
                          </a:solidFill>
                          <a:latin typeface="Helios"/>
                          <a:ea typeface="Helios"/>
                          <a:cs typeface="Helios"/>
                          <a:sym typeface="Helios"/>
                        </a:rPr>
                        <a:t>An individual's mental health serves as a barometer for properly addressing his or her diseases</a:t>
                      </a:r>
                      <a:endParaRPr lang="en-US" sz="1100"/>
                    </a:p>
                  </a:txBody>
                  <a:tcPr marL="76200" marR="76200" marT="76200" marB="76200" anchor="ctr">
                    <a:lnL w="0" cap="flat" cmpd="sng" algn="ctr">
                      <a:solidFill>
                        <a:srgbClr val="141E32"/>
                      </a:solidFill>
                      <a:prstDash val="solid"/>
                      <a:round/>
                      <a:headEnd type="none" w="med" len="med"/>
                      <a:tailEnd type="none" w="med" len="med"/>
                    </a:lnL>
                    <a:lnR w="0" cap="flat" cmpd="sng" algn="ctr">
                      <a:solidFill>
                        <a:srgbClr val="141E32"/>
                      </a:solidFill>
                      <a:prstDash val="solid"/>
                      <a:round/>
                      <a:headEnd type="none" w="med" len="med"/>
                      <a:tailEnd type="none" w="med" len="med"/>
                    </a:lnR>
                    <a:lnT w="0" cap="flat" cmpd="sng" algn="ctr">
                      <a:solidFill>
                        <a:srgbClr val="141E32"/>
                      </a:solidFill>
                      <a:prstDash val="solid"/>
                      <a:round/>
                      <a:headEnd type="none" w="med" len="med"/>
                      <a:tailEnd type="none" w="med" len="med"/>
                    </a:lnT>
                    <a:lnB w="0" cap="flat" cmpd="sng" algn="ctr">
                      <a:solidFill>
                        <a:srgbClr val="141E32"/>
                      </a:solidFill>
                      <a:prstDash val="solid"/>
                      <a:round/>
                      <a:headEnd type="none" w="med" len="med"/>
                      <a:tailEnd type="none" w="med" len="med"/>
                    </a:lnB>
                  </a:tcPr>
                </a:tc>
                <a:extLst>
                  <a:ext uri="{0D108BD9-81ED-4DB2-BD59-A6C34878D82A}">
                    <a16:rowId xmlns:a16="http://schemas.microsoft.com/office/drawing/2014/main" val="10001"/>
                  </a:ext>
                </a:extLst>
              </a:tr>
              <a:tr h="1581150">
                <a:tc>
                  <a:txBody>
                    <a:bodyPr/>
                    <a:lstStyle/>
                    <a:p>
                      <a:pPr algn="l">
                        <a:lnSpc>
                          <a:spcPts val="5599"/>
                        </a:lnSpc>
                        <a:defRPr/>
                      </a:pPr>
                      <a:r>
                        <a:rPr lang="en-US" sz="3999">
                          <a:solidFill>
                            <a:srgbClr val="1B4061"/>
                          </a:solidFill>
                          <a:latin typeface="Helios"/>
                          <a:ea typeface="Helios"/>
                          <a:cs typeface="Helios"/>
                          <a:sym typeface="Helios"/>
                        </a:rPr>
                        <a:t>3</a:t>
                      </a:r>
                      <a:endParaRPr lang="en-US" sz="1100"/>
                    </a:p>
                  </a:txBody>
                  <a:tcPr marL="76200" marR="76200" marT="76200" marB="76200" anchor="ctr">
                    <a:lnL w="0" cap="flat" cmpd="sng" algn="ctr">
                      <a:solidFill>
                        <a:srgbClr val="141E32"/>
                      </a:solidFill>
                      <a:prstDash val="solid"/>
                      <a:round/>
                      <a:headEnd type="none" w="med" len="med"/>
                      <a:tailEnd type="none" w="med" len="med"/>
                    </a:lnL>
                    <a:lnR w="0" cap="flat" cmpd="sng" algn="ctr">
                      <a:solidFill>
                        <a:srgbClr val="141E32"/>
                      </a:solidFill>
                      <a:prstDash val="solid"/>
                      <a:round/>
                      <a:headEnd type="none" w="med" len="med"/>
                      <a:tailEnd type="none" w="med" len="med"/>
                    </a:lnR>
                    <a:lnT w="0" cap="flat" cmpd="sng" algn="ctr">
                      <a:solidFill>
                        <a:srgbClr val="141E32"/>
                      </a:solidFill>
                      <a:prstDash val="solid"/>
                      <a:round/>
                      <a:headEnd type="none" w="med" len="med"/>
                      <a:tailEnd type="none" w="med" len="med"/>
                    </a:lnT>
                    <a:lnB w="0" cap="flat" cmpd="sng" algn="ctr">
                      <a:solidFill>
                        <a:srgbClr val="141E32"/>
                      </a:solidFill>
                      <a:prstDash val="solid"/>
                      <a:round/>
                      <a:headEnd type="none" w="med" len="med"/>
                      <a:tailEnd type="none" w="med" len="med"/>
                    </a:lnB>
                  </a:tcPr>
                </a:tc>
                <a:tc>
                  <a:txBody>
                    <a:bodyPr/>
                    <a:lstStyle/>
                    <a:p>
                      <a:pPr algn="l">
                        <a:lnSpc>
                          <a:spcPts val="5599"/>
                        </a:lnSpc>
                        <a:defRPr/>
                      </a:pPr>
                      <a:r>
                        <a:rPr lang="en-US" sz="3999">
                          <a:solidFill>
                            <a:srgbClr val="2A2E3A"/>
                          </a:solidFill>
                          <a:latin typeface="Helios"/>
                          <a:ea typeface="Helios"/>
                          <a:cs typeface="Helios"/>
                          <a:sym typeface="Helios"/>
                        </a:rPr>
                        <a:t>To predict any health-related irregularities, it is critical to keep track of diverse groups' mental health profiles. </a:t>
                      </a:r>
                      <a:endParaRPr lang="en-US" sz="1100"/>
                    </a:p>
                  </a:txBody>
                  <a:tcPr marL="76200" marR="76200" marT="76200" marB="76200" anchor="ctr">
                    <a:lnL w="0" cap="flat" cmpd="sng" algn="ctr">
                      <a:solidFill>
                        <a:srgbClr val="141E32"/>
                      </a:solidFill>
                      <a:prstDash val="solid"/>
                      <a:round/>
                      <a:headEnd type="none" w="med" len="med"/>
                      <a:tailEnd type="none" w="med" len="med"/>
                    </a:lnL>
                    <a:lnR w="0" cap="flat" cmpd="sng" algn="ctr">
                      <a:solidFill>
                        <a:srgbClr val="141E32"/>
                      </a:solidFill>
                      <a:prstDash val="solid"/>
                      <a:round/>
                      <a:headEnd type="none" w="med" len="med"/>
                      <a:tailEnd type="none" w="med" len="med"/>
                    </a:lnR>
                    <a:lnT w="0" cap="flat" cmpd="sng" algn="ctr">
                      <a:solidFill>
                        <a:srgbClr val="141E32"/>
                      </a:solidFill>
                      <a:prstDash val="solid"/>
                      <a:round/>
                      <a:headEnd type="none" w="med" len="med"/>
                      <a:tailEnd type="none" w="med" len="med"/>
                    </a:lnT>
                    <a:lnB w="0" cap="flat" cmpd="sng" algn="ctr">
                      <a:solidFill>
                        <a:srgbClr val="141E32"/>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pSp>
        <p:nvGrpSpPr>
          <p:cNvPr id="4" name="Group 4"/>
          <p:cNvGrpSpPr/>
          <p:nvPr/>
        </p:nvGrpSpPr>
        <p:grpSpPr>
          <a:xfrm>
            <a:off x="0" y="0"/>
            <a:ext cx="18288000" cy="1737889"/>
            <a:chOff x="0" y="0"/>
            <a:chExt cx="4816593" cy="457716"/>
          </a:xfrm>
        </p:grpSpPr>
        <p:sp>
          <p:nvSpPr>
            <p:cNvPr id="5" name="Freeform 5"/>
            <p:cNvSpPr/>
            <p:nvPr/>
          </p:nvSpPr>
          <p:spPr>
            <a:xfrm>
              <a:off x="0" y="0"/>
              <a:ext cx="4816592" cy="457716"/>
            </a:xfrm>
            <a:custGeom>
              <a:avLst/>
              <a:gdLst/>
              <a:ahLst/>
              <a:cxnLst/>
              <a:rect l="l" t="t" r="r" b="b"/>
              <a:pathLst>
                <a:path w="4816592" h="457716">
                  <a:moveTo>
                    <a:pt x="0" y="0"/>
                  </a:moveTo>
                  <a:lnTo>
                    <a:pt x="4816592" y="0"/>
                  </a:lnTo>
                  <a:lnTo>
                    <a:pt x="4816592" y="457716"/>
                  </a:lnTo>
                  <a:lnTo>
                    <a:pt x="0" y="457716"/>
                  </a:lnTo>
                  <a:close/>
                </a:path>
              </a:pathLst>
            </a:custGeom>
            <a:solidFill>
              <a:srgbClr val="F4F4F4"/>
            </a:solidFill>
          </p:spPr>
        </p:sp>
        <p:sp>
          <p:nvSpPr>
            <p:cNvPr id="6" name="TextBox 6"/>
            <p:cNvSpPr txBox="1"/>
            <p:nvPr/>
          </p:nvSpPr>
          <p:spPr>
            <a:xfrm>
              <a:off x="0" y="-38100"/>
              <a:ext cx="4816593" cy="495816"/>
            </a:xfrm>
            <a:prstGeom prst="rect">
              <a:avLst/>
            </a:prstGeom>
          </p:spPr>
          <p:txBody>
            <a:bodyPr lIns="50800" tIns="50800" rIns="50800" bIns="50800" rtlCol="0" anchor="ctr"/>
            <a:lstStyle/>
            <a:p>
              <a:pPr algn="ctr">
                <a:lnSpc>
                  <a:spcPts val="2100"/>
                </a:lnSpc>
              </a:pPr>
              <a:endParaRPr/>
            </a:p>
          </p:txBody>
        </p:sp>
      </p:grpSp>
      <p:grpSp>
        <p:nvGrpSpPr>
          <p:cNvPr id="7" name="Group 7"/>
          <p:cNvGrpSpPr/>
          <p:nvPr/>
        </p:nvGrpSpPr>
        <p:grpSpPr>
          <a:xfrm>
            <a:off x="1970136" y="522507"/>
            <a:ext cx="13991465" cy="1803166"/>
            <a:chOff x="0" y="0"/>
            <a:chExt cx="18655286" cy="2404222"/>
          </a:xfrm>
        </p:grpSpPr>
        <p:sp>
          <p:nvSpPr>
            <p:cNvPr id="8" name="TextBox 8"/>
            <p:cNvSpPr txBox="1"/>
            <p:nvPr/>
          </p:nvSpPr>
          <p:spPr>
            <a:xfrm>
              <a:off x="0" y="-76200"/>
              <a:ext cx="18655286" cy="1494367"/>
            </a:xfrm>
            <a:prstGeom prst="rect">
              <a:avLst/>
            </a:prstGeom>
          </p:spPr>
          <p:txBody>
            <a:bodyPr lIns="0" tIns="0" rIns="0" bIns="0" rtlCol="0" anchor="t">
              <a:spAutoFit/>
            </a:bodyPr>
            <a:lstStyle/>
            <a:p>
              <a:pPr algn="ctr">
                <a:lnSpc>
                  <a:spcPts val="9099"/>
                </a:lnSpc>
              </a:pPr>
              <a:r>
                <a:rPr lang="en-US" sz="6999" b="1">
                  <a:solidFill>
                    <a:srgbClr val="2A2E3A"/>
                  </a:solidFill>
                  <a:latin typeface="Klein Bold"/>
                  <a:ea typeface="Klein Bold"/>
                  <a:cs typeface="Klein Bold"/>
                  <a:sym typeface="Klein Bold"/>
                </a:rPr>
                <a:t>INTRODUCTION</a:t>
              </a:r>
            </a:p>
          </p:txBody>
        </p:sp>
        <p:sp>
          <p:nvSpPr>
            <p:cNvPr id="9" name="TextBox 9"/>
            <p:cNvSpPr txBox="1"/>
            <p:nvPr/>
          </p:nvSpPr>
          <p:spPr>
            <a:xfrm>
              <a:off x="0" y="1825525"/>
              <a:ext cx="18655286" cy="578697"/>
            </a:xfrm>
            <a:prstGeom prst="rect">
              <a:avLst/>
            </a:prstGeom>
          </p:spPr>
          <p:txBody>
            <a:bodyPr lIns="0" tIns="0" rIns="0" bIns="0" rtlCol="0" anchor="t">
              <a:spAutoFit/>
            </a:bodyPr>
            <a:lstStyle/>
            <a:p>
              <a:pPr marL="0" lvl="0" indent="0" algn="ctr">
                <a:lnSpc>
                  <a:spcPts val="3639"/>
                </a:lnSpc>
                <a:spcBef>
                  <a:spcPct val="0"/>
                </a:spcBef>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737889"/>
            <a:chOff x="0" y="0"/>
            <a:chExt cx="4816593" cy="457716"/>
          </a:xfrm>
        </p:grpSpPr>
        <p:sp>
          <p:nvSpPr>
            <p:cNvPr id="3" name="Freeform 3"/>
            <p:cNvSpPr/>
            <p:nvPr/>
          </p:nvSpPr>
          <p:spPr>
            <a:xfrm>
              <a:off x="0" y="0"/>
              <a:ext cx="4816592" cy="457716"/>
            </a:xfrm>
            <a:custGeom>
              <a:avLst/>
              <a:gdLst/>
              <a:ahLst/>
              <a:cxnLst/>
              <a:rect l="l" t="t" r="r" b="b"/>
              <a:pathLst>
                <a:path w="4816592" h="457716">
                  <a:moveTo>
                    <a:pt x="0" y="0"/>
                  </a:moveTo>
                  <a:lnTo>
                    <a:pt x="4816592" y="0"/>
                  </a:lnTo>
                  <a:lnTo>
                    <a:pt x="4816592" y="457716"/>
                  </a:lnTo>
                  <a:lnTo>
                    <a:pt x="0" y="457716"/>
                  </a:lnTo>
                  <a:close/>
                </a:path>
              </a:pathLst>
            </a:custGeom>
            <a:solidFill>
              <a:srgbClr val="F4F4F4"/>
            </a:solidFill>
          </p:spPr>
        </p:sp>
        <p:sp>
          <p:nvSpPr>
            <p:cNvPr id="4" name="TextBox 4"/>
            <p:cNvSpPr txBox="1"/>
            <p:nvPr/>
          </p:nvSpPr>
          <p:spPr>
            <a:xfrm>
              <a:off x="0" y="-38100"/>
              <a:ext cx="4816593" cy="495816"/>
            </a:xfrm>
            <a:prstGeom prst="rect">
              <a:avLst/>
            </a:prstGeom>
          </p:spPr>
          <p:txBody>
            <a:bodyPr lIns="50800" tIns="50800" rIns="50800" bIns="50800" rtlCol="0" anchor="ctr"/>
            <a:lstStyle/>
            <a:p>
              <a:pPr algn="ctr">
                <a:lnSpc>
                  <a:spcPts val="2100"/>
                </a:lnSpc>
              </a:pPr>
              <a:endParaRPr/>
            </a:p>
          </p:txBody>
        </p:sp>
      </p:grpSp>
      <p:graphicFrame>
        <p:nvGraphicFramePr>
          <p:cNvPr id="5" name="Table 5"/>
          <p:cNvGraphicFramePr>
            <a:graphicFrameLocks noGrp="1"/>
          </p:cNvGraphicFramePr>
          <p:nvPr/>
        </p:nvGraphicFramePr>
        <p:xfrm>
          <a:off x="0" y="1737889"/>
          <a:ext cx="18288000" cy="8429637"/>
        </p:xfrm>
        <a:graphic>
          <a:graphicData uri="http://schemas.openxmlformats.org/drawingml/2006/table">
            <a:tbl>
              <a:tblPr/>
              <a:tblGrid>
                <a:gridCol w="4385701">
                  <a:extLst>
                    <a:ext uri="{9D8B030D-6E8A-4147-A177-3AD203B41FA5}">
                      <a16:colId xmlns:a16="http://schemas.microsoft.com/office/drawing/2014/main" val="20000"/>
                    </a:ext>
                  </a:extLst>
                </a:gridCol>
                <a:gridCol w="5506926">
                  <a:extLst>
                    <a:ext uri="{9D8B030D-6E8A-4147-A177-3AD203B41FA5}">
                      <a16:colId xmlns:a16="http://schemas.microsoft.com/office/drawing/2014/main" val="20001"/>
                    </a:ext>
                  </a:extLst>
                </a:gridCol>
                <a:gridCol w="4201619">
                  <a:extLst>
                    <a:ext uri="{9D8B030D-6E8A-4147-A177-3AD203B41FA5}">
                      <a16:colId xmlns:a16="http://schemas.microsoft.com/office/drawing/2014/main" val="20002"/>
                    </a:ext>
                  </a:extLst>
                </a:gridCol>
                <a:gridCol w="4193754">
                  <a:extLst>
                    <a:ext uri="{9D8B030D-6E8A-4147-A177-3AD203B41FA5}">
                      <a16:colId xmlns:a16="http://schemas.microsoft.com/office/drawing/2014/main" val="20003"/>
                    </a:ext>
                  </a:extLst>
                </a:gridCol>
              </a:tblGrid>
              <a:tr h="1521363">
                <a:tc>
                  <a:txBody>
                    <a:bodyPr/>
                    <a:lstStyle/>
                    <a:p>
                      <a:pPr algn="ctr">
                        <a:lnSpc>
                          <a:spcPts val="5879"/>
                        </a:lnSpc>
                        <a:defRPr/>
                      </a:pPr>
                      <a:r>
                        <a:rPr lang="en-US" sz="4199">
                          <a:solidFill>
                            <a:srgbClr val="000000"/>
                          </a:solidFill>
                          <a:latin typeface="TAN Headline"/>
                          <a:ea typeface="TAN Headline"/>
                          <a:cs typeface="TAN Headline"/>
                          <a:sym typeface="TAN Headline"/>
                        </a:rPr>
                        <a:t>Title </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5599"/>
                        </a:lnSpc>
                        <a:defRPr/>
                      </a:pPr>
                      <a:r>
                        <a:rPr lang="en-US" sz="3999">
                          <a:solidFill>
                            <a:srgbClr val="000000"/>
                          </a:solidFill>
                          <a:latin typeface="TAN Headline"/>
                          <a:ea typeface="TAN Headline"/>
                          <a:cs typeface="TAN Headline"/>
                          <a:sym typeface="TAN Headline"/>
                        </a:rPr>
                        <a:t>Methodology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5599"/>
                        </a:lnSpc>
                        <a:defRPr/>
                      </a:pPr>
                      <a:r>
                        <a:rPr lang="en-US" sz="3999">
                          <a:solidFill>
                            <a:srgbClr val="000000"/>
                          </a:solidFill>
                          <a:latin typeface="TAN Headline"/>
                          <a:ea typeface="TAN Headline"/>
                          <a:cs typeface="TAN Headline"/>
                          <a:sym typeface="TAN Headline"/>
                        </a:rPr>
                        <a:t>Advantages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5599"/>
                        </a:lnSpc>
                        <a:defRPr/>
                      </a:pPr>
                      <a:r>
                        <a:rPr lang="en-US" sz="3999">
                          <a:solidFill>
                            <a:srgbClr val="000000"/>
                          </a:solidFill>
                          <a:latin typeface="TAN Headline"/>
                          <a:ea typeface="TAN Headline"/>
                          <a:cs typeface="TAN Headline"/>
                          <a:sym typeface="TAN Headline"/>
                        </a:rPr>
                        <a:t>Drawbacks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521115">
                <a:tc>
                  <a:txBody>
                    <a:bodyPr/>
                    <a:lstStyle/>
                    <a:p>
                      <a:pPr algn="ctr">
                        <a:lnSpc>
                          <a:spcPts val="3499"/>
                        </a:lnSpc>
                        <a:defRPr/>
                      </a:pPr>
                      <a:r>
                        <a:rPr lang="en-US" sz="2499">
                          <a:solidFill>
                            <a:srgbClr val="2A2E3A"/>
                          </a:solidFill>
                          <a:latin typeface="Helios"/>
                          <a:ea typeface="Helios"/>
                          <a:cs typeface="Helios"/>
                          <a:sym typeface="Helios"/>
                        </a:rPr>
                        <a:t> Application of Machine Learning Methods in Mental Health Detection: A Systematic Review</a:t>
                      </a:r>
                      <a:endParaRPr lang="en-US" sz="1100"/>
                    </a:p>
                    <a:p>
                      <a:pPr algn="ctr">
                        <a:lnSpc>
                          <a:spcPts val="3499"/>
                        </a:lnSpc>
                      </a:pPr>
                      <a:r>
                        <a:rPr lang="en-US" sz="2499">
                          <a:solidFill>
                            <a:srgbClr val="2A2E3A"/>
                          </a:solidFill>
                          <a:latin typeface="Helios"/>
                          <a:ea typeface="Helios"/>
                          <a:cs typeface="Helios"/>
                          <a:sym typeface="Helios"/>
                        </a:rPr>
                        <a:t>Rohizah Abd Rahman Khairuddin Omar; Shahrul Azman Mohd Noah; </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499"/>
                        </a:lnSpc>
                        <a:defRPr/>
                      </a:pPr>
                      <a:r>
                        <a:rPr lang="en-US" sz="2499">
                          <a:solidFill>
                            <a:srgbClr val="000000"/>
                          </a:solidFill>
                          <a:latin typeface="Helios"/>
                          <a:ea typeface="Helios"/>
                          <a:cs typeface="Helios"/>
                          <a:sym typeface="Helios"/>
                        </a:rPr>
                        <a:t>This paper presents a critical assessment of mental health detection in online social networks, focusing on data sources and machine learning techniques.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Helios"/>
                          <a:ea typeface="Helios"/>
                          <a:cs typeface="Helios"/>
                          <a:sym typeface="Helios"/>
                        </a:rPr>
                        <a:t>Provides a comprehensive overview of existing methods and identifies potential areas for improvement.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Helios"/>
                          <a:ea typeface="Helios"/>
                          <a:cs typeface="Helios"/>
                          <a:sym typeface="Helios"/>
                        </a:rPr>
                        <a:t>May not offer new empirical data or novel methodologies.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387159">
                <a:tc>
                  <a:txBody>
                    <a:bodyPr/>
                    <a:lstStyle/>
                    <a:p>
                      <a:pPr algn="l">
                        <a:lnSpc>
                          <a:spcPts val="3359"/>
                        </a:lnSpc>
                        <a:defRPr/>
                      </a:pPr>
                      <a:r>
                        <a:rPr lang="en-US" sz="2400">
                          <a:solidFill>
                            <a:srgbClr val="000000"/>
                          </a:solidFill>
                          <a:latin typeface="Helios"/>
                          <a:ea typeface="Helios"/>
                          <a:cs typeface="Helios"/>
                          <a:sym typeface="Helios"/>
                        </a:rPr>
                        <a:t>Mental Health State Detection Using OpenCV and Sentiment Analysis</a:t>
                      </a:r>
                      <a:endParaRPr lang="en-US" sz="1100"/>
                    </a:p>
                    <a:p>
                      <a:pPr algn="l">
                        <a:lnSpc>
                          <a:spcPts val="3359"/>
                        </a:lnSpc>
                      </a:pPr>
                      <a:r>
                        <a:rPr lang="en-US" sz="2400">
                          <a:solidFill>
                            <a:srgbClr val="000000"/>
                          </a:solidFill>
                          <a:latin typeface="Helios"/>
                          <a:ea typeface="Helios"/>
                          <a:cs typeface="Helios"/>
                          <a:sym typeface="Helios"/>
                        </a:rPr>
                        <a:t>Manav Pradeep Jain, Soumyaprakash Sribash Dasmohapatra, Stevina Correia</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499"/>
                        </a:lnSpc>
                        <a:defRPr/>
                      </a:pPr>
                      <a:r>
                        <a:rPr lang="en-US" sz="2499">
                          <a:solidFill>
                            <a:srgbClr val="000000"/>
                          </a:solidFill>
                          <a:latin typeface="Helios"/>
                          <a:ea typeface="Helios"/>
                          <a:cs typeface="Helios"/>
                          <a:sym typeface="Helios"/>
                        </a:rPr>
                        <a:t> The system predicts an individual's mental health state using OpenCV for facial recognition and sentiment analysis techniques.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499"/>
                        </a:lnSpc>
                        <a:defRPr/>
                      </a:pPr>
                      <a:r>
                        <a:rPr lang="en-US" sz="2499">
                          <a:solidFill>
                            <a:srgbClr val="000000"/>
                          </a:solidFill>
                          <a:latin typeface="Helios"/>
                          <a:ea typeface="Helios"/>
                          <a:cs typeface="Helios"/>
                          <a:sym typeface="Helios"/>
                        </a:rPr>
                        <a:t>Combines visual and textual data for a more holistic assessment.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499"/>
                        </a:lnSpc>
                        <a:defRPr/>
                      </a:pPr>
                      <a:r>
                        <a:rPr lang="en-US" sz="2499">
                          <a:solidFill>
                            <a:srgbClr val="000000"/>
                          </a:solidFill>
                          <a:latin typeface="Helios"/>
                          <a:ea typeface="Helios"/>
                          <a:cs typeface="Helios"/>
                          <a:sym typeface="Helios"/>
                        </a:rPr>
                        <a:t>Requires access to both facial images and textual data, which may not always be available.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pSp>
        <p:nvGrpSpPr>
          <p:cNvPr id="6" name="Group 6"/>
          <p:cNvGrpSpPr/>
          <p:nvPr/>
        </p:nvGrpSpPr>
        <p:grpSpPr>
          <a:xfrm>
            <a:off x="1858804" y="127117"/>
            <a:ext cx="13991465" cy="1803166"/>
            <a:chOff x="0" y="0"/>
            <a:chExt cx="18655286" cy="2404222"/>
          </a:xfrm>
        </p:grpSpPr>
        <p:sp>
          <p:nvSpPr>
            <p:cNvPr id="7" name="TextBox 7"/>
            <p:cNvSpPr txBox="1"/>
            <p:nvPr/>
          </p:nvSpPr>
          <p:spPr>
            <a:xfrm>
              <a:off x="0" y="-76200"/>
              <a:ext cx="18655286" cy="1494367"/>
            </a:xfrm>
            <a:prstGeom prst="rect">
              <a:avLst/>
            </a:prstGeom>
          </p:spPr>
          <p:txBody>
            <a:bodyPr lIns="0" tIns="0" rIns="0" bIns="0" rtlCol="0" anchor="t">
              <a:spAutoFit/>
            </a:bodyPr>
            <a:lstStyle/>
            <a:p>
              <a:pPr algn="ctr">
                <a:lnSpc>
                  <a:spcPts val="9099"/>
                </a:lnSpc>
              </a:pPr>
              <a:r>
                <a:rPr lang="en-US" sz="6999" b="1">
                  <a:solidFill>
                    <a:srgbClr val="2A2E3A"/>
                  </a:solidFill>
                  <a:latin typeface="Klein Bold"/>
                  <a:ea typeface="Klein Bold"/>
                  <a:cs typeface="Klein Bold"/>
                  <a:sym typeface="Klein Bold"/>
                </a:rPr>
                <a:t>Literature Survey</a:t>
              </a:r>
            </a:p>
          </p:txBody>
        </p:sp>
        <p:sp>
          <p:nvSpPr>
            <p:cNvPr id="8" name="TextBox 8"/>
            <p:cNvSpPr txBox="1"/>
            <p:nvPr/>
          </p:nvSpPr>
          <p:spPr>
            <a:xfrm>
              <a:off x="0" y="1825525"/>
              <a:ext cx="18655286" cy="578697"/>
            </a:xfrm>
            <a:prstGeom prst="rect">
              <a:avLst/>
            </a:prstGeom>
          </p:spPr>
          <p:txBody>
            <a:bodyPr lIns="0" tIns="0" rIns="0" bIns="0" rtlCol="0" anchor="t">
              <a:spAutoFit/>
            </a:bodyPr>
            <a:lstStyle/>
            <a:p>
              <a:pPr marL="0" lvl="0" indent="0" algn="ctr">
                <a:lnSpc>
                  <a:spcPts val="3639"/>
                </a:lnSpc>
                <a:spcBef>
                  <a:spcPct val="0"/>
                </a:spcBef>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737889"/>
            <a:chOff x="0" y="0"/>
            <a:chExt cx="4816593" cy="457716"/>
          </a:xfrm>
        </p:grpSpPr>
        <p:sp>
          <p:nvSpPr>
            <p:cNvPr id="3" name="Freeform 3"/>
            <p:cNvSpPr/>
            <p:nvPr/>
          </p:nvSpPr>
          <p:spPr>
            <a:xfrm>
              <a:off x="0" y="0"/>
              <a:ext cx="4816592" cy="457716"/>
            </a:xfrm>
            <a:custGeom>
              <a:avLst/>
              <a:gdLst/>
              <a:ahLst/>
              <a:cxnLst/>
              <a:rect l="l" t="t" r="r" b="b"/>
              <a:pathLst>
                <a:path w="4816592" h="457716">
                  <a:moveTo>
                    <a:pt x="0" y="0"/>
                  </a:moveTo>
                  <a:lnTo>
                    <a:pt x="4816592" y="0"/>
                  </a:lnTo>
                  <a:lnTo>
                    <a:pt x="4816592" y="457716"/>
                  </a:lnTo>
                  <a:lnTo>
                    <a:pt x="0" y="457716"/>
                  </a:lnTo>
                  <a:close/>
                </a:path>
              </a:pathLst>
            </a:custGeom>
            <a:solidFill>
              <a:srgbClr val="F4F4F4"/>
            </a:solidFill>
          </p:spPr>
        </p:sp>
        <p:sp>
          <p:nvSpPr>
            <p:cNvPr id="4" name="TextBox 4"/>
            <p:cNvSpPr txBox="1"/>
            <p:nvPr/>
          </p:nvSpPr>
          <p:spPr>
            <a:xfrm>
              <a:off x="0" y="-38100"/>
              <a:ext cx="4816593" cy="495816"/>
            </a:xfrm>
            <a:prstGeom prst="rect">
              <a:avLst/>
            </a:prstGeom>
          </p:spPr>
          <p:txBody>
            <a:bodyPr lIns="50800" tIns="50800" rIns="50800" bIns="50800" rtlCol="0" anchor="ctr"/>
            <a:lstStyle/>
            <a:p>
              <a:pPr algn="ctr">
                <a:lnSpc>
                  <a:spcPts val="2100"/>
                </a:lnSpc>
              </a:pPr>
              <a:endParaRPr/>
            </a:p>
          </p:txBody>
        </p:sp>
      </p:grpSp>
      <p:graphicFrame>
        <p:nvGraphicFramePr>
          <p:cNvPr id="5" name="Table 5"/>
          <p:cNvGraphicFramePr>
            <a:graphicFrameLocks noGrp="1"/>
          </p:cNvGraphicFramePr>
          <p:nvPr/>
        </p:nvGraphicFramePr>
        <p:xfrm>
          <a:off x="0" y="1737889"/>
          <a:ext cx="18288000" cy="8549111"/>
        </p:xfrm>
        <a:graphic>
          <a:graphicData uri="http://schemas.openxmlformats.org/drawingml/2006/table">
            <a:tbl>
              <a:tblPr/>
              <a:tblGrid>
                <a:gridCol w="4385701">
                  <a:extLst>
                    <a:ext uri="{9D8B030D-6E8A-4147-A177-3AD203B41FA5}">
                      <a16:colId xmlns:a16="http://schemas.microsoft.com/office/drawing/2014/main" val="20000"/>
                    </a:ext>
                  </a:extLst>
                </a:gridCol>
                <a:gridCol w="5506926">
                  <a:extLst>
                    <a:ext uri="{9D8B030D-6E8A-4147-A177-3AD203B41FA5}">
                      <a16:colId xmlns:a16="http://schemas.microsoft.com/office/drawing/2014/main" val="20001"/>
                    </a:ext>
                  </a:extLst>
                </a:gridCol>
                <a:gridCol w="4201619">
                  <a:extLst>
                    <a:ext uri="{9D8B030D-6E8A-4147-A177-3AD203B41FA5}">
                      <a16:colId xmlns:a16="http://schemas.microsoft.com/office/drawing/2014/main" val="20002"/>
                    </a:ext>
                  </a:extLst>
                </a:gridCol>
                <a:gridCol w="4193754">
                  <a:extLst>
                    <a:ext uri="{9D8B030D-6E8A-4147-A177-3AD203B41FA5}">
                      <a16:colId xmlns:a16="http://schemas.microsoft.com/office/drawing/2014/main" val="20003"/>
                    </a:ext>
                  </a:extLst>
                </a:gridCol>
              </a:tblGrid>
              <a:tr h="1521267">
                <a:tc>
                  <a:txBody>
                    <a:bodyPr/>
                    <a:lstStyle/>
                    <a:p>
                      <a:pPr algn="ctr">
                        <a:lnSpc>
                          <a:spcPts val="5879"/>
                        </a:lnSpc>
                        <a:defRPr/>
                      </a:pPr>
                      <a:r>
                        <a:rPr lang="en-US" sz="4199">
                          <a:solidFill>
                            <a:srgbClr val="000000"/>
                          </a:solidFill>
                          <a:latin typeface="TAN Headline"/>
                          <a:ea typeface="TAN Headline"/>
                          <a:cs typeface="TAN Headline"/>
                          <a:sym typeface="TAN Headline"/>
                        </a:rPr>
                        <a:t>Title </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5599"/>
                        </a:lnSpc>
                        <a:defRPr/>
                      </a:pPr>
                      <a:r>
                        <a:rPr lang="en-US" sz="3999">
                          <a:solidFill>
                            <a:srgbClr val="000000"/>
                          </a:solidFill>
                          <a:latin typeface="TAN Headline"/>
                          <a:ea typeface="TAN Headline"/>
                          <a:cs typeface="TAN Headline"/>
                          <a:sym typeface="TAN Headline"/>
                        </a:rPr>
                        <a:t>Methodology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5599"/>
                        </a:lnSpc>
                        <a:defRPr/>
                      </a:pPr>
                      <a:r>
                        <a:rPr lang="en-US" sz="3999">
                          <a:solidFill>
                            <a:srgbClr val="000000"/>
                          </a:solidFill>
                          <a:latin typeface="TAN Headline"/>
                          <a:ea typeface="TAN Headline"/>
                          <a:cs typeface="TAN Headline"/>
                          <a:sym typeface="TAN Headline"/>
                        </a:rPr>
                        <a:t>Advantages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5599"/>
                        </a:lnSpc>
                        <a:defRPr/>
                      </a:pPr>
                      <a:r>
                        <a:rPr lang="en-US" sz="3999">
                          <a:solidFill>
                            <a:srgbClr val="000000"/>
                          </a:solidFill>
                          <a:latin typeface="TAN Headline"/>
                          <a:ea typeface="TAN Headline"/>
                          <a:cs typeface="TAN Headline"/>
                          <a:sym typeface="TAN Headline"/>
                        </a:rPr>
                        <a:t>Drawbacks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145022">
                <a:tc>
                  <a:txBody>
                    <a:bodyPr/>
                    <a:lstStyle/>
                    <a:p>
                      <a:pPr algn="ctr">
                        <a:lnSpc>
                          <a:spcPts val="3499"/>
                        </a:lnSpc>
                        <a:defRPr/>
                      </a:pPr>
                      <a:r>
                        <a:rPr lang="en-US" sz="2499">
                          <a:solidFill>
                            <a:srgbClr val="2A2E3A"/>
                          </a:solidFill>
                          <a:latin typeface="Helios"/>
                          <a:ea typeface="Helios"/>
                          <a:cs typeface="Helios"/>
                          <a:sym typeface="Helios"/>
                        </a:rPr>
                        <a:t>Machine Learning Models Based Mental Health Detection</a:t>
                      </a:r>
                      <a:endParaRPr lang="en-US" sz="1100"/>
                    </a:p>
                    <a:p>
                      <a:pPr algn="ctr">
                        <a:lnSpc>
                          <a:spcPts val="3499"/>
                        </a:lnSpc>
                      </a:pPr>
                      <a:r>
                        <a:rPr lang="en-US" sz="2499">
                          <a:solidFill>
                            <a:srgbClr val="2A2E3A"/>
                          </a:solidFill>
                          <a:latin typeface="Helios"/>
                          <a:ea typeface="Helios"/>
                          <a:cs typeface="Helios"/>
                          <a:sym typeface="Helios"/>
                        </a:rPr>
                        <a:t>Rani Pacharane, K. Mishra, S.K. Thripathi, M. Kanojia</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499"/>
                        </a:lnSpc>
                        <a:defRPr/>
                      </a:pPr>
                      <a:r>
                        <a:rPr lang="en-US" sz="2499">
                          <a:solidFill>
                            <a:srgbClr val="000000"/>
                          </a:solidFill>
                          <a:latin typeface="Helios"/>
                          <a:ea typeface="Helios"/>
                          <a:cs typeface="Helios"/>
                          <a:sym typeface="Helios"/>
                        </a:rPr>
                        <a:t>This study employs machine learning algorithms to screen mental health using a Mental Disorder Questionnaire (MDQ).</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a:solidFill>
                            <a:srgbClr val="718BAB"/>
                          </a:solidFill>
                          <a:latin typeface="Helios"/>
                          <a:ea typeface="Helios"/>
                          <a:cs typeface="Helios"/>
                          <a:sym typeface="Helios"/>
                        </a:rPr>
                        <a:t> </a:t>
                      </a:r>
                      <a:r>
                        <a:rPr lang="en-US" sz="2499">
                          <a:solidFill>
                            <a:srgbClr val="000000"/>
                          </a:solidFill>
                          <a:latin typeface="Helios"/>
                          <a:ea typeface="Helios"/>
                          <a:cs typeface="Helios"/>
                          <a:sym typeface="Helios"/>
                        </a:rPr>
                        <a:t>Automates mental health assessment, potentially increasing efficiency and accessibility</a:t>
                      </a:r>
                      <a:r>
                        <a:rPr lang="en-US" sz="2499">
                          <a:solidFill>
                            <a:srgbClr val="718BAB"/>
                          </a:solidFill>
                          <a:latin typeface="Helios"/>
                          <a:ea typeface="Helios"/>
                          <a:cs typeface="Helios"/>
                          <a:sym typeface="Helios"/>
                        </a:rPr>
                        <a: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Helios"/>
                          <a:ea typeface="Helios"/>
                          <a:cs typeface="Helios"/>
                          <a:sym typeface="Helios"/>
                        </a:rPr>
                        <a:t>The accuracy of the assessment depends on the quality and honesty of questionnaire responses.</a:t>
                      </a:r>
                      <a:endParaRPr lang="en-US" sz="1100"/>
                    </a:p>
                    <a:p>
                      <a:pPr algn="ctr">
                        <a:lnSpc>
                          <a:spcPts val="2100"/>
                        </a:lnSpc>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882822">
                <a:tc>
                  <a:txBody>
                    <a:bodyPr/>
                    <a:lstStyle/>
                    <a:p>
                      <a:pPr algn="ctr">
                        <a:lnSpc>
                          <a:spcPts val="3359"/>
                        </a:lnSpc>
                        <a:defRPr/>
                      </a:pPr>
                      <a:r>
                        <a:rPr lang="en-US" sz="2400">
                          <a:solidFill>
                            <a:srgbClr val="000000"/>
                          </a:solidFill>
                          <a:latin typeface="Helios"/>
                          <a:ea typeface="Helios"/>
                          <a:cs typeface="Helios"/>
                          <a:sym typeface="Helios"/>
                        </a:rPr>
                        <a:t> Detection and Prediction of Future Mental Disorder from Social Media Data</a:t>
                      </a:r>
                      <a:endParaRPr lang="en-US" sz="1100"/>
                    </a:p>
                    <a:p>
                      <a:pPr algn="ctr">
                        <a:lnSpc>
                          <a:spcPts val="3359"/>
                        </a:lnSpc>
                      </a:pPr>
                      <a:r>
                        <a:rPr lang="en-US" sz="2400">
                          <a:solidFill>
                            <a:srgbClr val="000000"/>
                          </a:solidFill>
                          <a:latin typeface="Helios"/>
                          <a:ea typeface="Helios"/>
                          <a:cs typeface="Helios"/>
                          <a:sym typeface="Helios"/>
                        </a:rPr>
                        <a:t>Mohammed Abdullah,Nermin Negid</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499"/>
                        </a:lnSpc>
                        <a:defRPr/>
                      </a:pPr>
                      <a:r>
                        <a:rPr lang="en-US" sz="2499">
                          <a:solidFill>
                            <a:srgbClr val="000000"/>
                          </a:solidFill>
                          <a:latin typeface="Helios"/>
                          <a:ea typeface="Helios"/>
                          <a:cs typeface="Helios"/>
                          <a:sym typeface="Helios"/>
                        </a:rPr>
                        <a:t>This study deploys nineteen different models to detect and predict mental disorders from social media data</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499"/>
                        </a:lnSpc>
                        <a:defRPr/>
                      </a:pPr>
                      <a:r>
                        <a:rPr lang="en-US" sz="2499">
                          <a:solidFill>
                            <a:srgbClr val="000000"/>
                          </a:solidFill>
                          <a:latin typeface="Helios"/>
                          <a:ea typeface="Helios"/>
                          <a:cs typeface="Helios"/>
                          <a:sym typeface="Helios"/>
                        </a:rPr>
                        <a:t> Utilizes real-time data from social media, allowing for timely detection and intervention.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499"/>
                        </a:lnSpc>
                        <a:defRPr/>
                      </a:pPr>
                      <a:r>
                        <a:rPr lang="en-US" sz="2499">
                          <a:solidFill>
                            <a:srgbClr val="000000"/>
                          </a:solidFill>
                          <a:latin typeface="Helios"/>
                          <a:ea typeface="Helios"/>
                          <a:cs typeface="Helios"/>
                          <a:sym typeface="Helios"/>
                        </a:rPr>
                        <a:t>Privacy concerns and the potential for misinterpretation of social media content.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pSp>
        <p:nvGrpSpPr>
          <p:cNvPr id="6" name="Group 6"/>
          <p:cNvGrpSpPr/>
          <p:nvPr/>
        </p:nvGrpSpPr>
        <p:grpSpPr>
          <a:xfrm>
            <a:off x="1858804" y="127117"/>
            <a:ext cx="13991465" cy="1803166"/>
            <a:chOff x="0" y="0"/>
            <a:chExt cx="18655286" cy="2404222"/>
          </a:xfrm>
        </p:grpSpPr>
        <p:sp>
          <p:nvSpPr>
            <p:cNvPr id="7" name="TextBox 7"/>
            <p:cNvSpPr txBox="1"/>
            <p:nvPr/>
          </p:nvSpPr>
          <p:spPr>
            <a:xfrm>
              <a:off x="0" y="-76200"/>
              <a:ext cx="18655286" cy="1494367"/>
            </a:xfrm>
            <a:prstGeom prst="rect">
              <a:avLst/>
            </a:prstGeom>
          </p:spPr>
          <p:txBody>
            <a:bodyPr lIns="0" tIns="0" rIns="0" bIns="0" rtlCol="0" anchor="t">
              <a:spAutoFit/>
            </a:bodyPr>
            <a:lstStyle/>
            <a:p>
              <a:pPr algn="ctr">
                <a:lnSpc>
                  <a:spcPts val="9099"/>
                </a:lnSpc>
              </a:pPr>
              <a:r>
                <a:rPr lang="en-US" sz="6999" b="1">
                  <a:solidFill>
                    <a:srgbClr val="2A2E3A"/>
                  </a:solidFill>
                  <a:latin typeface="Klein Bold"/>
                  <a:ea typeface="Klein Bold"/>
                  <a:cs typeface="Klein Bold"/>
                  <a:sym typeface="Klein Bold"/>
                </a:rPr>
                <a:t>Literature Survey</a:t>
              </a:r>
            </a:p>
          </p:txBody>
        </p:sp>
        <p:sp>
          <p:nvSpPr>
            <p:cNvPr id="8" name="TextBox 8"/>
            <p:cNvSpPr txBox="1"/>
            <p:nvPr/>
          </p:nvSpPr>
          <p:spPr>
            <a:xfrm>
              <a:off x="0" y="1825525"/>
              <a:ext cx="18655286" cy="578697"/>
            </a:xfrm>
            <a:prstGeom prst="rect">
              <a:avLst/>
            </a:prstGeom>
          </p:spPr>
          <p:txBody>
            <a:bodyPr lIns="0" tIns="0" rIns="0" bIns="0" rtlCol="0" anchor="t">
              <a:spAutoFit/>
            </a:bodyPr>
            <a:lstStyle/>
            <a:p>
              <a:pPr marL="0" lvl="0" indent="0" algn="ctr">
                <a:lnSpc>
                  <a:spcPts val="3639"/>
                </a:lnSpc>
                <a:spcBef>
                  <a:spcPct val="0"/>
                </a:spcBef>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737889"/>
            <a:chOff x="0" y="0"/>
            <a:chExt cx="4816593" cy="457716"/>
          </a:xfrm>
        </p:grpSpPr>
        <p:sp>
          <p:nvSpPr>
            <p:cNvPr id="3" name="Freeform 3"/>
            <p:cNvSpPr/>
            <p:nvPr/>
          </p:nvSpPr>
          <p:spPr>
            <a:xfrm>
              <a:off x="0" y="0"/>
              <a:ext cx="4816592" cy="457716"/>
            </a:xfrm>
            <a:custGeom>
              <a:avLst/>
              <a:gdLst/>
              <a:ahLst/>
              <a:cxnLst/>
              <a:rect l="l" t="t" r="r" b="b"/>
              <a:pathLst>
                <a:path w="4816592" h="457716">
                  <a:moveTo>
                    <a:pt x="0" y="0"/>
                  </a:moveTo>
                  <a:lnTo>
                    <a:pt x="4816592" y="0"/>
                  </a:lnTo>
                  <a:lnTo>
                    <a:pt x="4816592" y="457716"/>
                  </a:lnTo>
                  <a:lnTo>
                    <a:pt x="0" y="457716"/>
                  </a:lnTo>
                  <a:close/>
                </a:path>
              </a:pathLst>
            </a:custGeom>
            <a:solidFill>
              <a:srgbClr val="F4F4F4"/>
            </a:solidFill>
          </p:spPr>
        </p:sp>
        <p:sp>
          <p:nvSpPr>
            <p:cNvPr id="4" name="TextBox 4"/>
            <p:cNvSpPr txBox="1"/>
            <p:nvPr/>
          </p:nvSpPr>
          <p:spPr>
            <a:xfrm>
              <a:off x="0" y="-38100"/>
              <a:ext cx="4816593" cy="495816"/>
            </a:xfrm>
            <a:prstGeom prst="rect">
              <a:avLst/>
            </a:prstGeom>
          </p:spPr>
          <p:txBody>
            <a:bodyPr lIns="50800" tIns="50800" rIns="50800" bIns="50800" rtlCol="0" anchor="ctr"/>
            <a:lstStyle/>
            <a:p>
              <a:pPr algn="ctr">
                <a:lnSpc>
                  <a:spcPts val="2100"/>
                </a:lnSpc>
              </a:pPr>
              <a:endParaRPr/>
            </a:p>
          </p:txBody>
        </p:sp>
      </p:grpSp>
      <p:grpSp>
        <p:nvGrpSpPr>
          <p:cNvPr id="5" name="Group 5"/>
          <p:cNvGrpSpPr/>
          <p:nvPr/>
        </p:nvGrpSpPr>
        <p:grpSpPr>
          <a:xfrm>
            <a:off x="1970136" y="522507"/>
            <a:ext cx="13991465" cy="1803166"/>
            <a:chOff x="0" y="0"/>
            <a:chExt cx="18655286" cy="2404222"/>
          </a:xfrm>
        </p:grpSpPr>
        <p:sp>
          <p:nvSpPr>
            <p:cNvPr id="6" name="TextBox 6"/>
            <p:cNvSpPr txBox="1"/>
            <p:nvPr/>
          </p:nvSpPr>
          <p:spPr>
            <a:xfrm>
              <a:off x="0" y="-76200"/>
              <a:ext cx="18655286" cy="1494367"/>
            </a:xfrm>
            <a:prstGeom prst="rect">
              <a:avLst/>
            </a:prstGeom>
          </p:spPr>
          <p:txBody>
            <a:bodyPr lIns="0" tIns="0" rIns="0" bIns="0" rtlCol="0" anchor="t">
              <a:spAutoFit/>
            </a:bodyPr>
            <a:lstStyle/>
            <a:p>
              <a:pPr algn="ctr">
                <a:lnSpc>
                  <a:spcPts val="9099"/>
                </a:lnSpc>
              </a:pPr>
              <a:r>
                <a:rPr lang="en-US" sz="6999" b="1">
                  <a:solidFill>
                    <a:srgbClr val="2A2E3A"/>
                  </a:solidFill>
                  <a:latin typeface="Klein Bold"/>
                  <a:ea typeface="Klein Bold"/>
                  <a:cs typeface="Klein Bold"/>
                  <a:sym typeface="Klein Bold"/>
                </a:rPr>
                <a:t>Problem statement</a:t>
              </a:r>
            </a:p>
          </p:txBody>
        </p:sp>
        <p:sp>
          <p:nvSpPr>
            <p:cNvPr id="7" name="TextBox 7"/>
            <p:cNvSpPr txBox="1"/>
            <p:nvPr/>
          </p:nvSpPr>
          <p:spPr>
            <a:xfrm>
              <a:off x="0" y="1825525"/>
              <a:ext cx="18655286" cy="578697"/>
            </a:xfrm>
            <a:prstGeom prst="rect">
              <a:avLst/>
            </a:prstGeom>
          </p:spPr>
          <p:txBody>
            <a:bodyPr lIns="0" tIns="0" rIns="0" bIns="0" rtlCol="0" anchor="t">
              <a:spAutoFit/>
            </a:bodyPr>
            <a:lstStyle/>
            <a:p>
              <a:pPr marL="0" lvl="0" indent="0" algn="ctr">
                <a:lnSpc>
                  <a:spcPts val="3639"/>
                </a:lnSpc>
                <a:spcBef>
                  <a:spcPct val="0"/>
                </a:spcBef>
              </a:pPr>
              <a:endParaRPr/>
            </a:p>
          </p:txBody>
        </p:sp>
      </p:grpSp>
      <p:sp>
        <p:nvSpPr>
          <p:cNvPr id="8" name="TextBox 8"/>
          <p:cNvSpPr txBox="1"/>
          <p:nvPr/>
        </p:nvSpPr>
        <p:spPr>
          <a:xfrm>
            <a:off x="-178132" y="2278048"/>
            <a:ext cx="18288000" cy="7174209"/>
          </a:xfrm>
          <a:prstGeom prst="rect">
            <a:avLst/>
          </a:prstGeom>
        </p:spPr>
        <p:txBody>
          <a:bodyPr lIns="0" tIns="0" rIns="0" bIns="0" rtlCol="0" anchor="t">
            <a:spAutoFit/>
          </a:bodyPr>
          <a:lstStyle/>
          <a:p>
            <a:pPr marL="631689" lvl="1" indent="-315844" algn="l">
              <a:lnSpc>
                <a:spcPts val="4096"/>
              </a:lnSpc>
              <a:buFont typeface="Arial"/>
              <a:buChar char="•"/>
            </a:pPr>
            <a:r>
              <a:rPr lang="en-US" sz="2925">
                <a:solidFill>
                  <a:srgbClr val="2A2E3A"/>
                </a:solidFill>
                <a:latin typeface="Helios"/>
                <a:ea typeface="Helios"/>
                <a:cs typeface="Helios"/>
                <a:sym typeface="Helios"/>
              </a:rPr>
              <a:t>The Mental Health Issue theory contends that issues start in childhood and continue through adolescence and adulthood.</a:t>
            </a:r>
          </a:p>
          <a:p>
            <a:pPr algn="ctr">
              <a:lnSpc>
                <a:spcPts val="4096"/>
              </a:lnSpc>
            </a:pPr>
            <a:endParaRPr lang="en-US" sz="2925">
              <a:solidFill>
                <a:srgbClr val="2A2E3A"/>
              </a:solidFill>
              <a:latin typeface="Helios"/>
              <a:ea typeface="Helios"/>
              <a:cs typeface="Helios"/>
              <a:sym typeface="Helios"/>
            </a:endParaRPr>
          </a:p>
          <a:p>
            <a:pPr algn="ctr">
              <a:lnSpc>
                <a:spcPts val="4096"/>
              </a:lnSpc>
            </a:pPr>
            <a:endParaRPr lang="en-US" sz="2925">
              <a:solidFill>
                <a:srgbClr val="2A2E3A"/>
              </a:solidFill>
              <a:latin typeface="Helios"/>
              <a:ea typeface="Helios"/>
              <a:cs typeface="Helios"/>
              <a:sym typeface="Helios"/>
            </a:endParaRPr>
          </a:p>
          <a:p>
            <a:pPr marL="631689" lvl="1" indent="-315844" algn="just">
              <a:lnSpc>
                <a:spcPts val="4096"/>
              </a:lnSpc>
              <a:buFont typeface="Arial"/>
              <a:buChar char="•"/>
            </a:pPr>
            <a:r>
              <a:rPr lang="en-US" sz="2925">
                <a:solidFill>
                  <a:srgbClr val="2A2E3A"/>
                </a:solidFill>
                <a:latin typeface="Helios"/>
                <a:ea typeface="Helios"/>
                <a:cs typeface="Helios"/>
                <a:sym typeface="Helios"/>
              </a:rPr>
              <a:t>There is a critical need for an effective, scalable, and non-intrusive method to detect early signs of mental health issues. Current approaches lack the ability to analyze large volumes of unstructured data from social media in real-time, leading to missed opportunities for early intervention. Additionally, existing models often fail to account for the complexity and variability of human emotions, which can result in inaccurate predictions and potential harm.</a:t>
            </a:r>
          </a:p>
          <a:p>
            <a:pPr algn="ctr">
              <a:lnSpc>
                <a:spcPts val="4096"/>
              </a:lnSpc>
            </a:pPr>
            <a:endParaRPr lang="en-US" sz="2925">
              <a:solidFill>
                <a:srgbClr val="2A2E3A"/>
              </a:solidFill>
              <a:latin typeface="Helios"/>
              <a:ea typeface="Helios"/>
              <a:cs typeface="Helios"/>
              <a:sym typeface="Helios"/>
            </a:endParaRPr>
          </a:p>
          <a:p>
            <a:pPr algn="ctr">
              <a:lnSpc>
                <a:spcPts val="4096"/>
              </a:lnSpc>
            </a:pPr>
            <a:endParaRPr lang="en-US" sz="2925">
              <a:solidFill>
                <a:srgbClr val="2A2E3A"/>
              </a:solidFill>
              <a:latin typeface="Helios"/>
              <a:ea typeface="Helios"/>
              <a:cs typeface="Helios"/>
              <a:sym typeface="Helios"/>
            </a:endParaRPr>
          </a:p>
          <a:p>
            <a:pPr marL="631689" lvl="1" indent="-315844" algn="l">
              <a:lnSpc>
                <a:spcPts val="4096"/>
              </a:lnSpc>
              <a:buFont typeface="Arial"/>
              <a:buChar char="•"/>
            </a:pPr>
            <a:r>
              <a:rPr lang="en-US" sz="2925">
                <a:solidFill>
                  <a:srgbClr val="2A2E3A"/>
                </a:solidFill>
                <a:latin typeface="Helios"/>
                <a:ea typeface="Helios"/>
                <a:cs typeface="Helios"/>
                <a:sym typeface="Helios"/>
              </a:rPr>
              <a:t> This study, motivated by the growing use of machine learning techniques in the research aspects of medical diagnosis,aims to examine the possible application of several algorithms for predicting and analyzing Mental Health Issue difficulties in kids, teens, and adults.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737889"/>
            <a:chOff x="0" y="0"/>
            <a:chExt cx="4816593" cy="457716"/>
          </a:xfrm>
        </p:grpSpPr>
        <p:sp>
          <p:nvSpPr>
            <p:cNvPr id="3" name="Freeform 3"/>
            <p:cNvSpPr/>
            <p:nvPr/>
          </p:nvSpPr>
          <p:spPr>
            <a:xfrm>
              <a:off x="0" y="0"/>
              <a:ext cx="4816592" cy="457716"/>
            </a:xfrm>
            <a:custGeom>
              <a:avLst/>
              <a:gdLst/>
              <a:ahLst/>
              <a:cxnLst/>
              <a:rect l="l" t="t" r="r" b="b"/>
              <a:pathLst>
                <a:path w="4816592" h="457716">
                  <a:moveTo>
                    <a:pt x="0" y="0"/>
                  </a:moveTo>
                  <a:lnTo>
                    <a:pt x="4816592" y="0"/>
                  </a:lnTo>
                  <a:lnTo>
                    <a:pt x="4816592" y="457716"/>
                  </a:lnTo>
                  <a:lnTo>
                    <a:pt x="0" y="457716"/>
                  </a:lnTo>
                  <a:close/>
                </a:path>
              </a:pathLst>
            </a:custGeom>
            <a:solidFill>
              <a:srgbClr val="F4F4F4"/>
            </a:solidFill>
          </p:spPr>
        </p:sp>
        <p:sp>
          <p:nvSpPr>
            <p:cNvPr id="4" name="TextBox 4"/>
            <p:cNvSpPr txBox="1"/>
            <p:nvPr/>
          </p:nvSpPr>
          <p:spPr>
            <a:xfrm>
              <a:off x="0" y="-38100"/>
              <a:ext cx="4816593" cy="495816"/>
            </a:xfrm>
            <a:prstGeom prst="rect">
              <a:avLst/>
            </a:prstGeom>
          </p:spPr>
          <p:txBody>
            <a:bodyPr lIns="50800" tIns="50800" rIns="50800" bIns="50800" rtlCol="0" anchor="ctr"/>
            <a:lstStyle/>
            <a:p>
              <a:pPr algn="ctr">
                <a:lnSpc>
                  <a:spcPts val="2100"/>
                </a:lnSpc>
              </a:pPr>
              <a:endParaRPr/>
            </a:p>
          </p:txBody>
        </p:sp>
      </p:grpSp>
      <p:grpSp>
        <p:nvGrpSpPr>
          <p:cNvPr id="5" name="Group 5"/>
          <p:cNvGrpSpPr/>
          <p:nvPr/>
        </p:nvGrpSpPr>
        <p:grpSpPr>
          <a:xfrm>
            <a:off x="1970136" y="522507"/>
            <a:ext cx="13991465" cy="1803166"/>
            <a:chOff x="0" y="0"/>
            <a:chExt cx="18655286" cy="2404222"/>
          </a:xfrm>
        </p:grpSpPr>
        <p:sp>
          <p:nvSpPr>
            <p:cNvPr id="6" name="TextBox 6"/>
            <p:cNvSpPr txBox="1"/>
            <p:nvPr/>
          </p:nvSpPr>
          <p:spPr>
            <a:xfrm>
              <a:off x="0" y="-76200"/>
              <a:ext cx="18655286" cy="1494367"/>
            </a:xfrm>
            <a:prstGeom prst="rect">
              <a:avLst/>
            </a:prstGeom>
          </p:spPr>
          <p:txBody>
            <a:bodyPr lIns="0" tIns="0" rIns="0" bIns="0" rtlCol="0" anchor="t">
              <a:spAutoFit/>
            </a:bodyPr>
            <a:lstStyle/>
            <a:p>
              <a:pPr algn="ctr">
                <a:lnSpc>
                  <a:spcPts val="9099"/>
                </a:lnSpc>
              </a:pPr>
              <a:r>
                <a:rPr lang="en-US" sz="6999" b="1">
                  <a:solidFill>
                    <a:srgbClr val="2A2E3A"/>
                  </a:solidFill>
                  <a:latin typeface="Klein Bold"/>
                  <a:ea typeface="Klein Bold"/>
                  <a:cs typeface="Klein Bold"/>
                  <a:sym typeface="Klein Bold"/>
                </a:rPr>
                <a:t>Objectives</a:t>
              </a:r>
            </a:p>
          </p:txBody>
        </p:sp>
        <p:sp>
          <p:nvSpPr>
            <p:cNvPr id="7" name="TextBox 7"/>
            <p:cNvSpPr txBox="1"/>
            <p:nvPr/>
          </p:nvSpPr>
          <p:spPr>
            <a:xfrm>
              <a:off x="0" y="1825525"/>
              <a:ext cx="18655286" cy="578697"/>
            </a:xfrm>
            <a:prstGeom prst="rect">
              <a:avLst/>
            </a:prstGeom>
          </p:spPr>
          <p:txBody>
            <a:bodyPr lIns="0" tIns="0" rIns="0" bIns="0" rtlCol="0" anchor="t">
              <a:spAutoFit/>
            </a:bodyPr>
            <a:lstStyle/>
            <a:p>
              <a:pPr marL="0" lvl="0" indent="0" algn="ctr">
                <a:lnSpc>
                  <a:spcPts val="3639"/>
                </a:lnSpc>
                <a:spcBef>
                  <a:spcPct val="0"/>
                </a:spcBef>
              </a:pPr>
              <a:endParaRPr/>
            </a:p>
          </p:txBody>
        </p:sp>
      </p:grpSp>
      <p:sp>
        <p:nvSpPr>
          <p:cNvPr id="8" name="TextBox 8"/>
          <p:cNvSpPr txBox="1"/>
          <p:nvPr/>
        </p:nvSpPr>
        <p:spPr>
          <a:xfrm>
            <a:off x="353591" y="1376465"/>
            <a:ext cx="16230600" cy="14688769"/>
          </a:xfrm>
          <a:prstGeom prst="rect">
            <a:avLst/>
          </a:prstGeom>
        </p:spPr>
        <p:txBody>
          <a:bodyPr lIns="0" tIns="0" rIns="0" bIns="0" rtlCol="0" anchor="t">
            <a:spAutoFit/>
          </a:bodyPr>
          <a:lstStyle/>
          <a:p>
            <a:pPr algn="l">
              <a:lnSpc>
                <a:spcPts val="4307"/>
              </a:lnSpc>
            </a:pPr>
            <a:r>
              <a:rPr lang="en-US" sz="3313" b="1">
                <a:solidFill>
                  <a:srgbClr val="2A2E3A"/>
                </a:solidFill>
                <a:latin typeface="Helios Bold"/>
                <a:ea typeface="Helios Bold"/>
                <a:cs typeface="Helios Bold"/>
                <a:sym typeface="Helios Bold"/>
              </a:rPr>
              <a:t>Data Collection and Preprocessing: </a:t>
            </a:r>
            <a:r>
              <a:rPr lang="en-US" sz="3313">
                <a:solidFill>
                  <a:srgbClr val="2A2E3A"/>
                </a:solidFill>
                <a:latin typeface="Helios"/>
                <a:ea typeface="Helios"/>
                <a:cs typeface="Helios"/>
                <a:sym typeface="Helios"/>
              </a:rPr>
              <a:t>Collect relevant data from various sources, such as surveys, social media, or wearable devices.</a:t>
            </a:r>
          </a:p>
          <a:p>
            <a:pPr algn="l">
              <a:lnSpc>
                <a:spcPts val="4307"/>
              </a:lnSpc>
            </a:pPr>
            <a:r>
              <a:rPr lang="en-US" sz="3313" b="1">
                <a:solidFill>
                  <a:srgbClr val="2A2E3A"/>
                </a:solidFill>
                <a:latin typeface="Helios Bold"/>
                <a:ea typeface="Helios Bold"/>
                <a:cs typeface="Helios Bold"/>
                <a:sym typeface="Helios Bold"/>
              </a:rPr>
              <a:t>Feature Selection and Extraction</a:t>
            </a:r>
            <a:r>
              <a:rPr lang="en-US" sz="3313">
                <a:solidFill>
                  <a:srgbClr val="2A2E3A"/>
                </a:solidFill>
                <a:latin typeface="Helios"/>
                <a:ea typeface="Helios"/>
                <a:cs typeface="Helios"/>
                <a:sym typeface="Helios"/>
              </a:rPr>
              <a:t>: Use techniques like Principal Component Analysis (PCA) or feature importance from machine learning models to reduce dimensionality.</a:t>
            </a:r>
          </a:p>
          <a:p>
            <a:pPr algn="l">
              <a:lnSpc>
                <a:spcPts val="4307"/>
              </a:lnSpc>
            </a:pPr>
            <a:r>
              <a:rPr lang="en-US" sz="3313" b="1">
                <a:solidFill>
                  <a:srgbClr val="2A2E3A"/>
                </a:solidFill>
                <a:latin typeface="Helios Bold"/>
                <a:ea typeface="Helios Bold"/>
                <a:cs typeface="Helios Bold"/>
                <a:sym typeface="Helios Bold"/>
              </a:rPr>
              <a:t>Model Development: </a:t>
            </a:r>
            <a:r>
              <a:rPr lang="en-US" sz="3313">
                <a:solidFill>
                  <a:srgbClr val="2A2E3A"/>
                </a:solidFill>
                <a:latin typeface="Helios"/>
                <a:ea typeface="Helios"/>
                <a:cs typeface="Helios"/>
                <a:sym typeface="Helios"/>
              </a:rPr>
              <a:t>Develop and implement various soft computing models (e.g., neural networks, support vector machines, decision trees) to classify mental health conditions.</a:t>
            </a:r>
          </a:p>
          <a:p>
            <a:pPr algn="l">
              <a:lnSpc>
                <a:spcPts val="4307"/>
              </a:lnSpc>
            </a:pPr>
            <a:r>
              <a:rPr lang="en-US" sz="3313" b="1">
                <a:solidFill>
                  <a:srgbClr val="2A2E3A"/>
                </a:solidFill>
                <a:latin typeface="Helios Bold"/>
                <a:ea typeface="Helios Bold"/>
                <a:cs typeface="Helios Bold"/>
                <a:sym typeface="Helios Bold"/>
              </a:rPr>
              <a:t>Real-time Detection:</a:t>
            </a:r>
            <a:r>
              <a:rPr lang="en-US" sz="3313">
                <a:solidFill>
                  <a:srgbClr val="2A2E3A"/>
                </a:solidFill>
                <a:latin typeface="Helios"/>
                <a:ea typeface="Helios"/>
                <a:cs typeface="Helios"/>
                <a:sym typeface="Helios"/>
              </a:rPr>
              <a:t> Implement a system for real-time detection of mental health issues based on user input or continuous data streams.</a:t>
            </a:r>
          </a:p>
          <a:p>
            <a:pPr algn="l">
              <a:lnSpc>
                <a:spcPts val="4307"/>
              </a:lnSpc>
            </a:pPr>
            <a:r>
              <a:rPr lang="en-US" sz="3313" b="1">
                <a:solidFill>
                  <a:srgbClr val="2A2E3A"/>
                </a:solidFill>
                <a:latin typeface="Helios Bold"/>
                <a:ea typeface="Helios Bold"/>
                <a:cs typeface="Helios Bold"/>
                <a:sym typeface="Helios Bold"/>
              </a:rPr>
              <a:t>User Interface Development: </a:t>
            </a:r>
            <a:r>
              <a:rPr lang="en-US" sz="3313">
                <a:solidFill>
                  <a:srgbClr val="2A2E3A"/>
                </a:solidFill>
                <a:latin typeface="Helios"/>
                <a:ea typeface="Helios"/>
                <a:cs typeface="Helios"/>
                <a:sym typeface="Helios"/>
              </a:rPr>
              <a:t>Ensure the interface is user-friendly and accessible to a diverse audience.</a:t>
            </a:r>
          </a:p>
          <a:p>
            <a:pPr algn="l">
              <a:lnSpc>
                <a:spcPts val="4307"/>
              </a:lnSpc>
            </a:pPr>
            <a:r>
              <a:rPr lang="en-US" sz="3313" b="1">
                <a:solidFill>
                  <a:srgbClr val="2A2E3A"/>
                </a:solidFill>
                <a:latin typeface="Helios Bold"/>
                <a:ea typeface="Helios Bold"/>
                <a:cs typeface="Helios Bold"/>
                <a:sym typeface="Helios Bold"/>
              </a:rPr>
              <a:t>User Feedback and Iteration: </a:t>
            </a:r>
            <a:r>
              <a:rPr lang="en-US" sz="3313">
                <a:solidFill>
                  <a:srgbClr val="2A2E3A"/>
                </a:solidFill>
                <a:latin typeface="Helios"/>
                <a:ea typeface="Helios"/>
                <a:cs typeface="Helios"/>
                <a:sym typeface="Helios"/>
              </a:rPr>
              <a:t>Gather feedback from users and mental health professionals to improve the system.</a:t>
            </a:r>
          </a:p>
          <a:p>
            <a:pPr algn="l">
              <a:lnSpc>
                <a:spcPts val="4307"/>
              </a:lnSpc>
            </a:pPr>
            <a:r>
              <a:rPr lang="en-US" sz="3313" b="1">
                <a:solidFill>
                  <a:srgbClr val="2A2E3A"/>
                </a:solidFill>
                <a:latin typeface="Helios Bold"/>
                <a:ea typeface="Helios Bold"/>
                <a:cs typeface="Helios Bold"/>
                <a:sym typeface="Helios Bold"/>
              </a:rPr>
              <a:t>Awareness and Education:</a:t>
            </a:r>
            <a:r>
              <a:rPr lang="en-US" sz="3313">
                <a:solidFill>
                  <a:srgbClr val="2A2E3A"/>
                </a:solidFill>
                <a:latin typeface="Helios"/>
                <a:ea typeface="Helios"/>
                <a:cs typeface="Helios"/>
                <a:sym typeface="Helios"/>
              </a:rPr>
              <a:t> Develop educational materials to raise awareness about mental health issues and the importance of early detection.</a:t>
            </a:r>
          </a:p>
          <a:p>
            <a:pPr algn="l">
              <a:lnSpc>
                <a:spcPts val="4307"/>
              </a:lnSpc>
            </a:pPr>
            <a:endParaRPr lang="en-US" sz="3313">
              <a:solidFill>
                <a:srgbClr val="2A2E3A"/>
              </a:solidFill>
              <a:latin typeface="Helios"/>
              <a:ea typeface="Helios"/>
              <a:cs typeface="Helios"/>
              <a:sym typeface="Helios"/>
            </a:endParaRPr>
          </a:p>
          <a:p>
            <a:pPr algn="l">
              <a:lnSpc>
                <a:spcPts val="4307"/>
              </a:lnSpc>
            </a:pPr>
            <a:endParaRPr lang="en-US" sz="3313">
              <a:solidFill>
                <a:srgbClr val="2A2E3A"/>
              </a:solidFill>
              <a:latin typeface="Helios"/>
              <a:ea typeface="Helios"/>
              <a:cs typeface="Helios"/>
              <a:sym typeface="Helios"/>
            </a:endParaRPr>
          </a:p>
          <a:p>
            <a:pPr algn="l">
              <a:lnSpc>
                <a:spcPts val="4307"/>
              </a:lnSpc>
            </a:pPr>
            <a:endParaRPr lang="en-US" sz="3313">
              <a:solidFill>
                <a:srgbClr val="2A2E3A"/>
              </a:solidFill>
              <a:latin typeface="Helios"/>
              <a:ea typeface="Helios"/>
              <a:cs typeface="Helios"/>
              <a:sym typeface="Helios"/>
            </a:endParaRPr>
          </a:p>
          <a:p>
            <a:pPr algn="l">
              <a:lnSpc>
                <a:spcPts val="4307"/>
              </a:lnSpc>
            </a:pPr>
            <a:endParaRPr lang="en-US" sz="3313">
              <a:solidFill>
                <a:srgbClr val="2A2E3A"/>
              </a:solidFill>
              <a:latin typeface="Helios"/>
              <a:ea typeface="Helios"/>
              <a:cs typeface="Helios"/>
              <a:sym typeface="Helios"/>
            </a:endParaRPr>
          </a:p>
          <a:p>
            <a:pPr algn="l">
              <a:lnSpc>
                <a:spcPts val="4307"/>
              </a:lnSpc>
            </a:pPr>
            <a:endParaRPr lang="en-US" sz="3313">
              <a:solidFill>
                <a:srgbClr val="2A2E3A"/>
              </a:solidFill>
              <a:latin typeface="Helios"/>
              <a:ea typeface="Helios"/>
              <a:cs typeface="Helios"/>
              <a:sym typeface="Helios"/>
            </a:endParaRPr>
          </a:p>
          <a:p>
            <a:pPr algn="l">
              <a:lnSpc>
                <a:spcPts val="4307"/>
              </a:lnSpc>
            </a:pPr>
            <a:endParaRPr lang="en-US" sz="3313">
              <a:solidFill>
                <a:srgbClr val="2A2E3A"/>
              </a:solidFill>
              <a:latin typeface="Helios"/>
              <a:ea typeface="Helios"/>
              <a:cs typeface="Helios"/>
              <a:sym typeface="Helios"/>
            </a:endParaRPr>
          </a:p>
          <a:p>
            <a:pPr algn="l">
              <a:lnSpc>
                <a:spcPts val="4307"/>
              </a:lnSpc>
            </a:pPr>
            <a:endParaRPr lang="en-US" sz="3313">
              <a:solidFill>
                <a:srgbClr val="2A2E3A"/>
              </a:solidFill>
              <a:latin typeface="Helios"/>
              <a:ea typeface="Helios"/>
              <a:cs typeface="Helios"/>
              <a:sym typeface="Helios"/>
            </a:endParaRPr>
          </a:p>
          <a:p>
            <a:pPr algn="l">
              <a:lnSpc>
                <a:spcPts val="4307"/>
              </a:lnSpc>
            </a:pPr>
            <a:endParaRPr lang="en-US" sz="3313">
              <a:solidFill>
                <a:srgbClr val="2A2E3A"/>
              </a:solidFill>
              <a:latin typeface="Helios"/>
              <a:ea typeface="Helios"/>
              <a:cs typeface="Helios"/>
              <a:sym typeface="Helios"/>
            </a:endParaRPr>
          </a:p>
          <a:p>
            <a:pPr algn="l">
              <a:lnSpc>
                <a:spcPts val="4307"/>
              </a:lnSpc>
            </a:pPr>
            <a:endParaRPr lang="en-US" sz="3313">
              <a:solidFill>
                <a:srgbClr val="2A2E3A"/>
              </a:solidFill>
              <a:latin typeface="Helios"/>
              <a:ea typeface="Helios"/>
              <a:cs typeface="Helios"/>
              <a:sym typeface="Helios"/>
            </a:endParaRPr>
          </a:p>
          <a:p>
            <a:pPr algn="l">
              <a:lnSpc>
                <a:spcPts val="4307"/>
              </a:lnSpc>
            </a:pPr>
            <a:endParaRPr lang="en-US" sz="3313">
              <a:solidFill>
                <a:srgbClr val="2A2E3A"/>
              </a:solidFill>
              <a:latin typeface="Helios"/>
              <a:ea typeface="Helios"/>
              <a:cs typeface="Helios"/>
              <a:sym typeface="Helios"/>
            </a:endParaRPr>
          </a:p>
          <a:p>
            <a:pPr algn="l">
              <a:lnSpc>
                <a:spcPts val="4307"/>
              </a:lnSpc>
              <a:spcBef>
                <a:spcPct val="0"/>
              </a:spcBef>
            </a:pPr>
            <a:endParaRPr lang="en-US" sz="3313">
              <a:solidFill>
                <a:srgbClr val="2A2E3A"/>
              </a:solidFill>
              <a:latin typeface="Helios"/>
              <a:ea typeface="Helios"/>
              <a:cs typeface="Helios"/>
              <a:sym typeface="Helio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71600" y="148162"/>
            <a:ext cx="7969045" cy="9990676"/>
          </a:xfrm>
          <a:custGeom>
            <a:avLst/>
            <a:gdLst/>
            <a:ahLst/>
            <a:cxnLst/>
            <a:rect l="l" t="t" r="r" b="b"/>
            <a:pathLst>
              <a:path w="9144000" h="10719967">
                <a:moveTo>
                  <a:pt x="0" y="0"/>
                </a:moveTo>
                <a:lnTo>
                  <a:pt x="9144000" y="0"/>
                </a:lnTo>
                <a:lnTo>
                  <a:pt x="9144000" y="10719967"/>
                </a:lnTo>
                <a:lnTo>
                  <a:pt x="0" y="10719967"/>
                </a:lnTo>
                <a:lnTo>
                  <a:pt x="0" y="0"/>
                </a:lnTo>
                <a:close/>
              </a:path>
            </a:pathLst>
          </a:custGeom>
          <a:blipFill>
            <a:blip r:embed="rId2"/>
            <a:stretch>
              <a:fillRect l="-1741" t="-1723" r="-72"/>
            </a:stretch>
          </a:blipFill>
        </p:spPr>
      </p:sp>
      <p:grpSp>
        <p:nvGrpSpPr>
          <p:cNvPr id="3" name="Group 3"/>
          <p:cNvGrpSpPr/>
          <p:nvPr/>
        </p:nvGrpSpPr>
        <p:grpSpPr>
          <a:xfrm>
            <a:off x="1970136" y="522507"/>
            <a:ext cx="13991465" cy="1803166"/>
            <a:chOff x="0" y="0"/>
            <a:chExt cx="18655286" cy="2404222"/>
          </a:xfrm>
        </p:grpSpPr>
        <p:sp>
          <p:nvSpPr>
            <p:cNvPr id="4" name="TextBox 4"/>
            <p:cNvSpPr txBox="1"/>
            <p:nvPr/>
          </p:nvSpPr>
          <p:spPr>
            <a:xfrm>
              <a:off x="0" y="-76200"/>
              <a:ext cx="18655286" cy="1494367"/>
            </a:xfrm>
            <a:prstGeom prst="rect">
              <a:avLst/>
            </a:prstGeom>
          </p:spPr>
          <p:txBody>
            <a:bodyPr lIns="0" tIns="0" rIns="0" bIns="0" rtlCol="0" anchor="t">
              <a:spAutoFit/>
            </a:bodyPr>
            <a:lstStyle/>
            <a:p>
              <a:pPr algn="ctr">
                <a:lnSpc>
                  <a:spcPts val="9099"/>
                </a:lnSpc>
              </a:pPr>
              <a:endParaRPr/>
            </a:p>
          </p:txBody>
        </p:sp>
        <p:sp>
          <p:nvSpPr>
            <p:cNvPr id="5" name="TextBox 5"/>
            <p:cNvSpPr txBox="1"/>
            <p:nvPr/>
          </p:nvSpPr>
          <p:spPr>
            <a:xfrm>
              <a:off x="0" y="1825525"/>
              <a:ext cx="18655286" cy="578697"/>
            </a:xfrm>
            <a:prstGeom prst="rect">
              <a:avLst/>
            </a:prstGeom>
          </p:spPr>
          <p:txBody>
            <a:bodyPr lIns="0" tIns="0" rIns="0" bIns="0" rtlCol="0" anchor="t">
              <a:spAutoFit/>
            </a:bodyPr>
            <a:lstStyle/>
            <a:p>
              <a:pPr marL="0" lvl="0" indent="0" algn="ctr">
                <a:lnSpc>
                  <a:spcPts val="3639"/>
                </a:lnSpc>
                <a:spcBef>
                  <a:spcPct val="0"/>
                </a:spcBef>
              </a:pPr>
              <a:endParaRPr/>
            </a:p>
          </p:txBody>
        </p:sp>
      </p:grpSp>
      <p:grpSp>
        <p:nvGrpSpPr>
          <p:cNvPr id="6" name="Group 6"/>
          <p:cNvGrpSpPr/>
          <p:nvPr/>
        </p:nvGrpSpPr>
        <p:grpSpPr>
          <a:xfrm>
            <a:off x="9915087" y="2887422"/>
            <a:ext cx="7627822" cy="4079189"/>
            <a:chOff x="0" y="0"/>
            <a:chExt cx="10170429" cy="5438919"/>
          </a:xfrm>
        </p:grpSpPr>
        <p:sp>
          <p:nvSpPr>
            <p:cNvPr id="7" name="TextBox 7"/>
            <p:cNvSpPr txBox="1"/>
            <p:nvPr/>
          </p:nvSpPr>
          <p:spPr>
            <a:xfrm>
              <a:off x="0" y="-104775"/>
              <a:ext cx="10170429" cy="4182826"/>
            </a:xfrm>
            <a:prstGeom prst="rect">
              <a:avLst/>
            </a:prstGeom>
          </p:spPr>
          <p:txBody>
            <a:bodyPr lIns="0" tIns="0" rIns="0" bIns="0" rtlCol="0" anchor="t">
              <a:spAutoFit/>
            </a:bodyPr>
            <a:lstStyle/>
            <a:p>
              <a:pPr algn="ctr">
                <a:lnSpc>
                  <a:spcPts val="12559"/>
                </a:lnSpc>
              </a:pPr>
              <a:r>
                <a:rPr lang="en-US" sz="9660" b="1">
                  <a:solidFill>
                    <a:srgbClr val="2A2E3A"/>
                  </a:solidFill>
                  <a:latin typeface="Klein Bold"/>
                  <a:ea typeface="Klein Bold"/>
                  <a:cs typeface="Klein Bold"/>
                  <a:sym typeface="Klein Bold"/>
                </a:rPr>
                <a:t>Block</a:t>
              </a:r>
            </a:p>
            <a:p>
              <a:pPr algn="ctr">
                <a:lnSpc>
                  <a:spcPts val="12559"/>
                </a:lnSpc>
              </a:pPr>
              <a:r>
                <a:rPr lang="en-US" sz="9660" b="1">
                  <a:solidFill>
                    <a:srgbClr val="2A2E3A"/>
                  </a:solidFill>
                  <a:latin typeface="Klein Bold"/>
                  <a:ea typeface="Klein Bold"/>
                  <a:cs typeface="Klein Bold"/>
                  <a:sym typeface="Klein Bold"/>
                </a:rPr>
                <a:t>Diagram</a:t>
              </a:r>
            </a:p>
          </p:txBody>
        </p:sp>
        <p:sp>
          <p:nvSpPr>
            <p:cNvPr id="8" name="TextBox 8"/>
            <p:cNvSpPr txBox="1"/>
            <p:nvPr/>
          </p:nvSpPr>
          <p:spPr>
            <a:xfrm>
              <a:off x="0" y="4633400"/>
              <a:ext cx="10170429" cy="805519"/>
            </a:xfrm>
            <a:prstGeom prst="rect">
              <a:avLst/>
            </a:prstGeom>
          </p:spPr>
          <p:txBody>
            <a:bodyPr lIns="0" tIns="0" rIns="0" bIns="0" rtlCol="0" anchor="t">
              <a:spAutoFit/>
            </a:bodyPr>
            <a:lstStyle/>
            <a:p>
              <a:pPr marL="0" lvl="0" indent="0" algn="ctr">
                <a:lnSpc>
                  <a:spcPts val="5023"/>
                </a:lnSpc>
                <a:spcBef>
                  <a:spcPct val="0"/>
                </a:spcBef>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737889"/>
            <a:chOff x="0" y="0"/>
            <a:chExt cx="4816593" cy="457716"/>
          </a:xfrm>
        </p:grpSpPr>
        <p:sp>
          <p:nvSpPr>
            <p:cNvPr id="3" name="Freeform 3"/>
            <p:cNvSpPr/>
            <p:nvPr/>
          </p:nvSpPr>
          <p:spPr>
            <a:xfrm>
              <a:off x="0" y="0"/>
              <a:ext cx="4816592" cy="457716"/>
            </a:xfrm>
            <a:custGeom>
              <a:avLst/>
              <a:gdLst/>
              <a:ahLst/>
              <a:cxnLst/>
              <a:rect l="l" t="t" r="r" b="b"/>
              <a:pathLst>
                <a:path w="4816592" h="457716">
                  <a:moveTo>
                    <a:pt x="0" y="0"/>
                  </a:moveTo>
                  <a:lnTo>
                    <a:pt x="4816592" y="0"/>
                  </a:lnTo>
                  <a:lnTo>
                    <a:pt x="4816592" y="457716"/>
                  </a:lnTo>
                  <a:lnTo>
                    <a:pt x="0" y="457716"/>
                  </a:lnTo>
                  <a:close/>
                </a:path>
              </a:pathLst>
            </a:custGeom>
            <a:solidFill>
              <a:srgbClr val="F4F4F4"/>
            </a:solidFill>
          </p:spPr>
        </p:sp>
        <p:sp>
          <p:nvSpPr>
            <p:cNvPr id="4" name="TextBox 4"/>
            <p:cNvSpPr txBox="1"/>
            <p:nvPr/>
          </p:nvSpPr>
          <p:spPr>
            <a:xfrm>
              <a:off x="0" y="-38100"/>
              <a:ext cx="4816593" cy="495816"/>
            </a:xfrm>
            <a:prstGeom prst="rect">
              <a:avLst/>
            </a:prstGeom>
          </p:spPr>
          <p:txBody>
            <a:bodyPr lIns="50800" tIns="50800" rIns="50800" bIns="50800" rtlCol="0" anchor="ctr"/>
            <a:lstStyle/>
            <a:p>
              <a:pPr algn="ctr">
                <a:lnSpc>
                  <a:spcPts val="2100"/>
                </a:lnSpc>
              </a:pPr>
              <a:endParaRPr/>
            </a:p>
          </p:txBody>
        </p:sp>
      </p:grpSp>
      <p:grpSp>
        <p:nvGrpSpPr>
          <p:cNvPr id="5" name="Group 5"/>
          <p:cNvGrpSpPr/>
          <p:nvPr/>
        </p:nvGrpSpPr>
        <p:grpSpPr>
          <a:xfrm>
            <a:off x="1970136" y="522507"/>
            <a:ext cx="13991465" cy="1803166"/>
            <a:chOff x="0" y="0"/>
            <a:chExt cx="18655286" cy="2404222"/>
          </a:xfrm>
        </p:grpSpPr>
        <p:sp>
          <p:nvSpPr>
            <p:cNvPr id="6" name="TextBox 6"/>
            <p:cNvSpPr txBox="1"/>
            <p:nvPr/>
          </p:nvSpPr>
          <p:spPr>
            <a:xfrm>
              <a:off x="0" y="-76200"/>
              <a:ext cx="18655286" cy="1494367"/>
            </a:xfrm>
            <a:prstGeom prst="rect">
              <a:avLst/>
            </a:prstGeom>
          </p:spPr>
          <p:txBody>
            <a:bodyPr lIns="0" tIns="0" rIns="0" bIns="0" rtlCol="0" anchor="t">
              <a:spAutoFit/>
            </a:bodyPr>
            <a:lstStyle/>
            <a:p>
              <a:pPr algn="ctr">
                <a:lnSpc>
                  <a:spcPts val="9099"/>
                </a:lnSpc>
              </a:pPr>
              <a:r>
                <a:rPr lang="en-US" sz="6999" b="1">
                  <a:solidFill>
                    <a:srgbClr val="2A2E3A"/>
                  </a:solidFill>
                  <a:latin typeface="Klein Bold"/>
                  <a:ea typeface="Klein Bold"/>
                  <a:cs typeface="Klein Bold"/>
                  <a:sym typeface="Klein Bold"/>
                </a:rPr>
                <a:t>Base paper</a:t>
              </a:r>
            </a:p>
          </p:txBody>
        </p:sp>
        <p:sp>
          <p:nvSpPr>
            <p:cNvPr id="7" name="TextBox 7"/>
            <p:cNvSpPr txBox="1"/>
            <p:nvPr/>
          </p:nvSpPr>
          <p:spPr>
            <a:xfrm>
              <a:off x="0" y="1825525"/>
              <a:ext cx="18655286" cy="578697"/>
            </a:xfrm>
            <a:prstGeom prst="rect">
              <a:avLst/>
            </a:prstGeom>
          </p:spPr>
          <p:txBody>
            <a:bodyPr lIns="0" tIns="0" rIns="0" bIns="0" rtlCol="0" anchor="t">
              <a:spAutoFit/>
            </a:bodyPr>
            <a:lstStyle/>
            <a:p>
              <a:pPr marL="0" lvl="0" indent="0" algn="ctr">
                <a:lnSpc>
                  <a:spcPts val="3639"/>
                </a:lnSpc>
                <a:spcBef>
                  <a:spcPct val="0"/>
                </a:spcBef>
              </a:pPr>
              <a:endParaRPr/>
            </a:p>
          </p:txBody>
        </p:sp>
      </p:grpSp>
      <p:sp>
        <p:nvSpPr>
          <p:cNvPr id="8" name="TextBox 8"/>
          <p:cNvSpPr txBox="1"/>
          <p:nvPr/>
        </p:nvSpPr>
        <p:spPr>
          <a:xfrm>
            <a:off x="7056245" y="7527917"/>
            <a:ext cx="3293620" cy="1017806"/>
          </a:xfrm>
          <a:prstGeom prst="rect">
            <a:avLst/>
          </a:prstGeom>
        </p:spPr>
        <p:txBody>
          <a:bodyPr lIns="0" tIns="0" rIns="0" bIns="0" rtlCol="0" anchor="t">
            <a:spAutoFit/>
          </a:bodyPr>
          <a:lstStyle/>
          <a:p>
            <a:pPr algn="ctr">
              <a:lnSpc>
                <a:spcPts val="8306"/>
              </a:lnSpc>
            </a:pPr>
            <a:r>
              <a:rPr lang="en-US" sz="5933" b="1" u="sng" dirty="0">
                <a:solidFill>
                  <a:srgbClr val="2A2E3A"/>
                </a:solidFill>
                <a:latin typeface="Canva Sans Bold"/>
                <a:ea typeface="Canva Sans Bold"/>
                <a:cs typeface="Canva Sans Bold"/>
                <a:sym typeface="Canva Sans Bold"/>
                <a:hlinkClick r:id="rId2" tooltip="https://ieeexplore.ieee.org/document/10142504?utm_source=chatgpt.com"/>
              </a:rPr>
              <a:t>link </a:t>
            </a:r>
            <a:endParaRPr lang="en-US" sz="5933" b="1" u="sng" dirty="0">
              <a:solidFill>
                <a:srgbClr val="2A2E3A"/>
              </a:solidFill>
              <a:latin typeface="Canva Sans Bold"/>
              <a:ea typeface="Canva Sans Bold"/>
              <a:cs typeface="Canva Sans Bold"/>
              <a:sym typeface="Canva Sans Bold"/>
              <a:hlinkClick r:id="rId3" tooltip="https://ieeexplore.ieee.org/document/10142504?utm_source=chatgpt.com"/>
            </a:endParaRPr>
          </a:p>
        </p:txBody>
      </p:sp>
      <p:sp>
        <p:nvSpPr>
          <p:cNvPr id="9" name="TextBox 9"/>
          <p:cNvSpPr txBox="1"/>
          <p:nvPr/>
        </p:nvSpPr>
        <p:spPr>
          <a:xfrm>
            <a:off x="0" y="2266258"/>
            <a:ext cx="18288000" cy="4780915"/>
          </a:xfrm>
          <a:prstGeom prst="rect">
            <a:avLst/>
          </a:prstGeom>
        </p:spPr>
        <p:txBody>
          <a:bodyPr lIns="0" tIns="0" rIns="0" bIns="0" rtlCol="0" anchor="t">
            <a:spAutoFit/>
          </a:bodyPr>
          <a:lstStyle/>
          <a:p>
            <a:pPr algn="ctr">
              <a:lnSpc>
                <a:spcPts val="4759"/>
              </a:lnSpc>
            </a:pPr>
            <a:r>
              <a:rPr lang="en-US" sz="3399">
                <a:solidFill>
                  <a:srgbClr val="2A2E3A"/>
                </a:solidFill>
                <a:latin typeface="Canva Sans"/>
                <a:ea typeface="Canva Sans"/>
                <a:cs typeface="Canva Sans"/>
                <a:sym typeface="Canva Sans"/>
              </a:rPr>
              <a:t>This study investigates the application of machine learning algorithms in predicting mental health outcomes without the need for invasive procedures. The research explores various algorithms and evaluates their accuracy in forecasting mental health conditions. The findings indicate that machine learning algorithms can predict mental health outcomes with high accuracy, and that adding demographic, behavioral, and other relevant data can enhance the predictive performance. The study emphasizes the potential of machine learning in early detection and intervention for mental health issues.</a:t>
            </a:r>
          </a:p>
        </p:txBody>
      </p:sp>
      <p:sp>
        <p:nvSpPr>
          <p:cNvPr id="10" name="TextBox 10"/>
          <p:cNvSpPr txBox="1"/>
          <p:nvPr/>
        </p:nvSpPr>
        <p:spPr>
          <a:xfrm>
            <a:off x="4723492" y="7866273"/>
            <a:ext cx="2472809" cy="679450"/>
          </a:xfrm>
          <a:prstGeom prst="rect">
            <a:avLst/>
          </a:prstGeom>
        </p:spPr>
        <p:txBody>
          <a:bodyPr lIns="0" tIns="0" rIns="0" bIns="0" rtlCol="0" anchor="t">
            <a:spAutoFit/>
          </a:bodyPr>
          <a:lstStyle/>
          <a:p>
            <a:pPr algn="ctr">
              <a:lnSpc>
                <a:spcPts val="5599"/>
              </a:lnSpc>
            </a:pPr>
            <a:r>
              <a:rPr lang="en-US" sz="3999">
                <a:solidFill>
                  <a:srgbClr val="2A2E3A"/>
                </a:solidFill>
                <a:latin typeface="Canva Sans"/>
                <a:ea typeface="Canva Sans"/>
                <a:cs typeface="Canva Sans"/>
                <a:sym typeface="Canva Sans"/>
              </a:rPr>
              <a:t>cliick here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737889"/>
            <a:chOff x="0" y="0"/>
            <a:chExt cx="4816593" cy="457716"/>
          </a:xfrm>
        </p:grpSpPr>
        <p:sp>
          <p:nvSpPr>
            <p:cNvPr id="3" name="Freeform 3"/>
            <p:cNvSpPr/>
            <p:nvPr/>
          </p:nvSpPr>
          <p:spPr>
            <a:xfrm>
              <a:off x="0" y="0"/>
              <a:ext cx="4816592" cy="457716"/>
            </a:xfrm>
            <a:custGeom>
              <a:avLst/>
              <a:gdLst/>
              <a:ahLst/>
              <a:cxnLst/>
              <a:rect l="l" t="t" r="r" b="b"/>
              <a:pathLst>
                <a:path w="4816592" h="457716">
                  <a:moveTo>
                    <a:pt x="0" y="0"/>
                  </a:moveTo>
                  <a:lnTo>
                    <a:pt x="4816592" y="0"/>
                  </a:lnTo>
                  <a:lnTo>
                    <a:pt x="4816592" y="457716"/>
                  </a:lnTo>
                  <a:lnTo>
                    <a:pt x="0" y="457716"/>
                  </a:lnTo>
                  <a:close/>
                </a:path>
              </a:pathLst>
            </a:custGeom>
            <a:solidFill>
              <a:srgbClr val="F4F4F4"/>
            </a:solidFill>
          </p:spPr>
        </p:sp>
        <p:sp>
          <p:nvSpPr>
            <p:cNvPr id="4" name="TextBox 4"/>
            <p:cNvSpPr txBox="1"/>
            <p:nvPr/>
          </p:nvSpPr>
          <p:spPr>
            <a:xfrm>
              <a:off x="0" y="-38100"/>
              <a:ext cx="4816593" cy="495816"/>
            </a:xfrm>
            <a:prstGeom prst="rect">
              <a:avLst/>
            </a:prstGeom>
          </p:spPr>
          <p:txBody>
            <a:bodyPr lIns="50800" tIns="50800" rIns="50800" bIns="50800" rtlCol="0" anchor="ctr"/>
            <a:lstStyle/>
            <a:p>
              <a:pPr algn="ctr">
                <a:lnSpc>
                  <a:spcPts val="2100"/>
                </a:lnSpc>
              </a:pPr>
              <a:endParaRPr/>
            </a:p>
          </p:txBody>
        </p:sp>
      </p:grpSp>
      <p:grpSp>
        <p:nvGrpSpPr>
          <p:cNvPr id="5" name="Group 5"/>
          <p:cNvGrpSpPr/>
          <p:nvPr/>
        </p:nvGrpSpPr>
        <p:grpSpPr>
          <a:xfrm>
            <a:off x="1970136" y="522507"/>
            <a:ext cx="13991465" cy="1803166"/>
            <a:chOff x="0" y="0"/>
            <a:chExt cx="18655286" cy="2404222"/>
          </a:xfrm>
        </p:grpSpPr>
        <p:sp>
          <p:nvSpPr>
            <p:cNvPr id="6" name="TextBox 6"/>
            <p:cNvSpPr txBox="1"/>
            <p:nvPr/>
          </p:nvSpPr>
          <p:spPr>
            <a:xfrm>
              <a:off x="0" y="-76200"/>
              <a:ext cx="18655286" cy="1494367"/>
            </a:xfrm>
            <a:prstGeom prst="rect">
              <a:avLst/>
            </a:prstGeom>
          </p:spPr>
          <p:txBody>
            <a:bodyPr lIns="0" tIns="0" rIns="0" bIns="0" rtlCol="0" anchor="t">
              <a:spAutoFit/>
            </a:bodyPr>
            <a:lstStyle/>
            <a:p>
              <a:pPr algn="ctr">
                <a:lnSpc>
                  <a:spcPts val="9099"/>
                </a:lnSpc>
              </a:pPr>
              <a:r>
                <a:rPr lang="en-US" sz="6999" b="1">
                  <a:solidFill>
                    <a:srgbClr val="2A2E3A"/>
                  </a:solidFill>
                  <a:latin typeface="Klein Bold"/>
                  <a:ea typeface="Klein Bold"/>
                  <a:cs typeface="Klein Bold"/>
                  <a:sym typeface="Klein Bold"/>
                </a:rPr>
                <a:t>Advantages</a:t>
              </a:r>
            </a:p>
          </p:txBody>
        </p:sp>
        <p:sp>
          <p:nvSpPr>
            <p:cNvPr id="7" name="TextBox 7"/>
            <p:cNvSpPr txBox="1"/>
            <p:nvPr/>
          </p:nvSpPr>
          <p:spPr>
            <a:xfrm>
              <a:off x="0" y="1825525"/>
              <a:ext cx="18655286" cy="578697"/>
            </a:xfrm>
            <a:prstGeom prst="rect">
              <a:avLst/>
            </a:prstGeom>
          </p:spPr>
          <p:txBody>
            <a:bodyPr lIns="0" tIns="0" rIns="0" bIns="0" rtlCol="0" anchor="t">
              <a:spAutoFit/>
            </a:bodyPr>
            <a:lstStyle/>
            <a:p>
              <a:pPr marL="0" lvl="0" indent="0" algn="ctr">
                <a:lnSpc>
                  <a:spcPts val="3639"/>
                </a:lnSpc>
                <a:spcBef>
                  <a:spcPct val="0"/>
                </a:spcBef>
              </a:pPr>
              <a:endParaRPr/>
            </a:p>
          </p:txBody>
        </p:sp>
      </p:grpSp>
      <p:sp>
        <p:nvSpPr>
          <p:cNvPr id="8" name="TextBox 8"/>
          <p:cNvSpPr txBox="1"/>
          <p:nvPr/>
        </p:nvSpPr>
        <p:spPr>
          <a:xfrm>
            <a:off x="-178132" y="1680739"/>
            <a:ext cx="18288000" cy="7763510"/>
          </a:xfrm>
          <a:prstGeom prst="rect">
            <a:avLst/>
          </a:prstGeom>
        </p:spPr>
        <p:txBody>
          <a:bodyPr lIns="0" tIns="0" rIns="0" bIns="0" rtlCol="0" anchor="t">
            <a:spAutoFit/>
          </a:bodyPr>
          <a:lstStyle/>
          <a:p>
            <a:pPr marL="561339" lvl="1" indent="-280669" algn="l">
              <a:lnSpc>
                <a:spcPts val="3639"/>
              </a:lnSpc>
              <a:buFont typeface="Arial"/>
              <a:buChar char="•"/>
            </a:pPr>
            <a:r>
              <a:rPr lang="en-US" sz="2599">
                <a:solidFill>
                  <a:srgbClr val="2A2E3A"/>
                </a:solidFill>
                <a:latin typeface="Helios"/>
                <a:ea typeface="Helios"/>
                <a:cs typeface="Helios"/>
                <a:sym typeface="Helios"/>
              </a:rPr>
              <a:t>Soft computing techniques, such as fuzzy logic and neural networks, can handle uncertainty and imprecision, making them suitable for the complex nature of mental health data.</a:t>
            </a:r>
          </a:p>
          <a:p>
            <a:pPr algn="l">
              <a:lnSpc>
                <a:spcPts val="3639"/>
              </a:lnSpc>
            </a:pPr>
            <a:endParaRPr lang="en-US" sz="2599">
              <a:solidFill>
                <a:srgbClr val="2A2E3A"/>
              </a:solidFill>
              <a:latin typeface="Helios"/>
              <a:ea typeface="Helios"/>
              <a:cs typeface="Helios"/>
              <a:sym typeface="Helios"/>
            </a:endParaRPr>
          </a:p>
          <a:p>
            <a:pPr marL="561339" lvl="1" indent="-280669" algn="l">
              <a:lnSpc>
                <a:spcPts val="3639"/>
              </a:lnSpc>
              <a:buFont typeface="Arial"/>
              <a:buChar char="•"/>
            </a:pPr>
            <a:r>
              <a:rPr lang="en-US" sz="2599">
                <a:solidFill>
                  <a:srgbClr val="2A2E3A"/>
                </a:solidFill>
                <a:latin typeface="Helios"/>
                <a:ea typeface="Helios"/>
                <a:cs typeface="Helios"/>
                <a:sym typeface="Helios"/>
              </a:rPr>
              <a:t>Machine learning algorithms can analyze large datasets to identify patterns and correlations that may not be evident through traditional statistical methods, leading to more accurate predictions of mental health issues.</a:t>
            </a:r>
          </a:p>
          <a:p>
            <a:pPr algn="ctr">
              <a:lnSpc>
                <a:spcPts val="3639"/>
              </a:lnSpc>
            </a:pPr>
            <a:endParaRPr lang="en-US" sz="2599">
              <a:solidFill>
                <a:srgbClr val="2A2E3A"/>
              </a:solidFill>
              <a:latin typeface="Helios"/>
              <a:ea typeface="Helios"/>
              <a:cs typeface="Helios"/>
              <a:sym typeface="Helios"/>
            </a:endParaRPr>
          </a:p>
          <a:p>
            <a:pPr marL="561339" lvl="1" indent="-280669" algn="l">
              <a:lnSpc>
                <a:spcPts val="3639"/>
              </a:lnSpc>
              <a:buFont typeface="Arial"/>
              <a:buChar char="•"/>
            </a:pPr>
            <a:r>
              <a:rPr lang="en-US" sz="2599">
                <a:solidFill>
                  <a:srgbClr val="2A2E3A"/>
                </a:solidFill>
                <a:latin typeface="Helios"/>
                <a:ea typeface="Helios"/>
                <a:cs typeface="Helios"/>
                <a:sym typeface="Helios"/>
              </a:rPr>
              <a:t>Many soft computing systems can process data in real-time, allowing for timely interventions and support for individuals at risk of mental health crises.</a:t>
            </a:r>
          </a:p>
          <a:p>
            <a:pPr algn="l">
              <a:lnSpc>
                <a:spcPts val="3639"/>
              </a:lnSpc>
            </a:pPr>
            <a:endParaRPr lang="en-US" sz="2599">
              <a:solidFill>
                <a:srgbClr val="2A2E3A"/>
              </a:solidFill>
              <a:latin typeface="Helios"/>
              <a:ea typeface="Helios"/>
              <a:cs typeface="Helios"/>
              <a:sym typeface="Helios"/>
            </a:endParaRPr>
          </a:p>
          <a:p>
            <a:pPr marL="561339" lvl="1" indent="-280669" algn="l">
              <a:lnSpc>
                <a:spcPts val="3639"/>
              </a:lnSpc>
              <a:buFont typeface="Arial"/>
              <a:buChar char="•"/>
            </a:pPr>
            <a:r>
              <a:rPr lang="en-US" sz="2599">
                <a:solidFill>
                  <a:srgbClr val="2A2E3A"/>
                </a:solidFill>
                <a:latin typeface="Helios"/>
                <a:ea typeface="Helios"/>
                <a:cs typeface="Helios"/>
                <a:sym typeface="Helios"/>
              </a:rPr>
              <a:t>Soft computing can facilitate personalized mental health care by analyzing individual data and tailoring interventions based on specific needs and conditions.</a:t>
            </a:r>
          </a:p>
          <a:p>
            <a:pPr algn="l">
              <a:lnSpc>
                <a:spcPts val="3639"/>
              </a:lnSpc>
            </a:pPr>
            <a:endParaRPr lang="en-US" sz="2599">
              <a:solidFill>
                <a:srgbClr val="2A2E3A"/>
              </a:solidFill>
              <a:latin typeface="Helios"/>
              <a:ea typeface="Helios"/>
              <a:cs typeface="Helios"/>
              <a:sym typeface="Helios"/>
            </a:endParaRPr>
          </a:p>
          <a:p>
            <a:pPr marL="561339" lvl="1" indent="-280669" algn="l">
              <a:lnSpc>
                <a:spcPts val="3639"/>
              </a:lnSpc>
              <a:buFont typeface="Arial"/>
              <a:buChar char="•"/>
            </a:pPr>
            <a:r>
              <a:rPr lang="en-US" sz="2599">
                <a:solidFill>
                  <a:srgbClr val="2A2E3A"/>
                </a:solidFill>
                <a:latin typeface="Helios"/>
                <a:ea typeface="Helios"/>
                <a:cs typeface="Helios"/>
                <a:sym typeface="Helios"/>
              </a:rPr>
              <a:t>These techniques can integrate various data types (e.g., text, audio, video) to provide a comprehensive view of an individual's mental health, enhancing the understanding of their condition.</a:t>
            </a:r>
          </a:p>
          <a:p>
            <a:pPr algn="ctr">
              <a:lnSpc>
                <a:spcPts val="3639"/>
              </a:lnSpc>
            </a:pPr>
            <a:endParaRPr lang="en-US" sz="2599">
              <a:solidFill>
                <a:srgbClr val="2A2E3A"/>
              </a:solidFill>
              <a:latin typeface="Helios"/>
              <a:ea typeface="Helios"/>
              <a:cs typeface="Helios"/>
              <a:sym typeface="Helios"/>
            </a:endParaRPr>
          </a:p>
          <a:p>
            <a:pPr marL="561339" lvl="1" indent="-280669" algn="l">
              <a:lnSpc>
                <a:spcPts val="3639"/>
              </a:lnSpc>
              <a:buFont typeface="Arial"/>
              <a:buChar char="•"/>
            </a:pPr>
            <a:r>
              <a:rPr lang="en-US" sz="2599">
                <a:solidFill>
                  <a:srgbClr val="2A2E3A"/>
                </a:solidFill>
                <a:latin typeface="Helios"/>
                <a:ea typeface="Helios"/>
                <a:cs typeface="Helios"/>
                <a:sym typeface="Helios"/>
              </a:rPr>
              <a:t>Soft computing models can be scaled to analyze large populations, making them useful for public health initiatives and research.</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737889"/>
            <a:chOff x="0" y="0"/>
            <a:chExt cx="4816593" cy="457716"/>
          </a:xfrm>
        </p:grpSpPr>
        <p:sp>
          <p:nvSpPr>
            <p:cNvPr id="3" name="Freeform 3"/>
            <p:cNvSpPr/>
            <p:nvPr/>
          </p:nvSpPr>
          <p:spPr>
            <a:xfrm>
              <a:off x="0" y="0"/>
              <a:ext cx="4816592" cy="457716"/>
            </a:xfrm>
            <a:custGeom>
              <a:avLst/>
              <a:gdLst/>
              <a:ahLst/>
              <a:cxnLst/>
              <a:rect l="l" t="t" r="r" b="b"/>
              <a:pathLst>
                <a:path w="4816592" h="457716">
                  <a:moveTo>
                    <a:pt x="0" y="0"/>
                  </a:moveTo>
                  <a:lnTo>
                    <a:pt x="4816592" y="0"/>
                  </a:lnTo>
                  <a:lnTo>
                    <a:pt x="4816592" y="457716"/>
                  </a:lnTo>
                  <a:lnTo>
                    <a:pt x="0" y="457716"/>
                  </a:lnTo>
                  <a:close/>
                </a:path>
              </a:pathLst>
            </a:custGeom>
            <a:solidFill>
              <a:srgbClr val="F4F4F4"/>
            </a:solidFill>
          </p:spPr>
        </p:sp>
        <p:sp>
          <p:nvSpPr>
            <p:cNvPr id="4" name="TextBox 4"/>
            <p:cNvSpPr txBox="1"/>
            <p:nvPr/>
          </p:nvSpPr>
          <p:spPr>
            <a:xfrm>
              <a:off x="0" y="-38100"/>
              <a:ext cx="4816593" cy="495816"/>
            </a:xfrm>
            <a:prstGeom prst="rect">
              <a:avLst/>
            </a:prstGeom>
          </p:spPr>
          <p:txBody>
            <a:bodyPr lIns="50800" tIns="50800" rIns="50800" bIns="50800" rtlCol="0" anchor="ctr"/>
            <a:lstStyle/>
            <a:p>
              <a:pPr algn="ctr">
                <a:lnSpc>
                  <a:spcPts val="2100"/>
                </a:lnSpc>
              </a:pPr>
              <a:endParaRPr/>
            </a:p>
          </p:txBody>
        </p:sp>
      </p:grpSp>
      <p:grpSp>
        <p:nvGrpSpPr>
          <p:cNvPr id="5" name="Group 5"/>
          <p:cNvGrpSpPr/>
          <p:nvPr/>
        </p:nvGrpSpPr>
        <p:grpSpPr>
          <a:xfrm>
            <a:off x="1970136" y="522507"/>
            <a:ext cx="13991465" cy="1803166"/>
            <a:chOff x="0" y="0"/>
            <a:chExt cx="18655286" cy="2404222"/>
          </a:xfrm>
        </p:grpSpPr>
        <p:sp>
          <p:nvSpPr>
            <p:cNvPr id="6" name="TextBox 6"/>
            <p:cNvSpPr txBox="1"/>
            <p:nvPr/>
          </p:nvSpPr>
          <p:spPr>
            <a:xfrm>
              <a:off x="0" y="-76200"/>
              <a:ext cx="18655286" cy="1494367"/>
            </a:xfrm>
            <a:prstGeom prst="rect">
              <a:avLst/>
            </a:prstGeom>
          </p:spPr>
          <p:txBody>
            <a:bodyPr lIns="0" tIns="0" rIns="0" bIns="0" rtlCol="0" anchor="t">
              <a:spAutoFit/>
            </a:bodyPr>
            <a:lstStyle/>
            <a:p>
              <a:pPr algn="ctr">
                <a:lnSpc>
                  <a:spcPts val="9099"/>
                </a:lnSpc>
              </a:pPr>
              <a:r>
                <a:rPr lang="en-US" sz="6999" b="1">
                  <a:solidFill>
                    <a:srgbClr val="2A2E3A"/>
                  </a:solidFill>
                  <a:latin typeface="Klein Bold"/>
                  <a:ea typeface="Klein Bold"/>
                  <a:cs typeface="Klein Bold"/>
                  <a:sym typeface="Klein Bold"/>
                </a:rPr>
                <a:t>Disadvantages</a:t>
              </a:r>
            </a:p>
          </p:txBody>
        </p:sp>
        <p:sp>
          <p:nvSpPr>
            <p:cNvPr id="7" name="TextBox 7"/>
            <p:cNvSpPr txBox="1"/>
            <p:nvPr/>
          </p:nvSpPr>
          <p:spPr>
            <a:xfrm>
              <a:off x="0" y="1825525"/>
              <a:ext cx="18655286" cy="578697"/>
            </a:xfrm>
            <a:prstGeom prst="rect">
              <a:avLst/>
            </a:prstGeom>
          </p:spPr>
          <p:txBody>
            <a:bodyPr lIns="0" tIns="0" rIns="0" bIns="0" rtlCol="0" anchor="t">
              <a:spAutoFit/>
            </a:bodyPr>
            <a:lstStyle/>
            <a:p>
              <a:pPr marL="0" lvl="0" indent="0" algn="ctr">
                <a:lnSpc>
                  <a:spcPts val="3639"/>
                </a:lnSpc>
                <a:spcBef>
                  <a:spcPct val="0"/>
                </a:spcBef>
              </a:pPr>
              <a:endParaRPr/>
            </a:p>
          </p:txBody>
        </p:sp>
      </p:grpSp>
      <p:sp>
        <p:nvSpPr>
          <p:cNvPr id="8" name="TextBox 8"/>
          <p:cNvSpPr txBox="1"/>
          <p:nvPr/>
        </p:nvSpPr>
        <p:spPr>
          <a:xfrm>
            <a:off x="0" y="1680739"/>
            <a:ext cx="18288000" cy="7763510"/>
          </a:xfrm>
          <a:prstGeom prst="rect">
            <a:avLst/>
          </a:prstGeom>
        </p:spPr>
        <p:txBody>
          <a:bodyPr lIns="0" tIns="0" rIns="0" bIns="0" rtlCol="0" anchor="t">
            <a:spAutoFit/>
          </a:bodyPr>
          <a:lstStyle/>
          <a:p>
            <a:pPr marL="561339" lvl="1" indent="-280669" algn="l">
              <a:lnSpc>
                <a:spcPts val="3639"/>
              </a:lnSpc>
              <a:buFont typeface="Arial"/>
              <a:buChar char="•"/>
            </a:pPr>
            <a:r>
              <a:rPr lang="en-US" sz="2599">
                <a:solidFill>
                  <a:srgbClr val="2A2E3A"/>
                </a:solidFill>
                <a:latin typeface="Helios"/>
                <a:ea typeface="Helios"/>
                <a:cs typeface="Helios"/>
                <a:sym typeface="Helios"/>
              </a:rPr>
              <a:t>The collection and analysis of sensitive mental health data raise significant privacy and ethical concerns, particularly regarding consent and data security.</a:t>
            </a:r>
          </a:p>
          <a:p>
            <a:pPr algn="l">
              <a:lnSpc>
                <a:spcPts val="3639"/>
              </a:lnSpc>
            </a:pPr>
            <a:endParaRPr lang="en-US" sz="2599">
              <a:solidFill>
                <a:srgbClr val="2A2E3A"/>
              </a:solidFill>
              <a:latin typeface="Helios"/>
              <a:ea typeface="Helios"/>
              <a:cs typeface="Helios"/>
              <a:sym typeface="Helios"/>
            </a:endParaRPr>
          </a:p>
          <a:p>
            <a:pPr marL="561339" lvl="1" indent="-280669" algn="l">
              <a:lnSpc>
                <a:spcPts val="3639"/>
              </a:lnSpc>
              <a:buFont typeface="Arial"/>
              <a:buChar char="•"/>
            </a:pPr>
            <a:r>
              <a:rPr lang="en-US" sz="2599">
                <a:solidFill>
                  <a:srgbClr val="2A2E3A"/>
                </a:solidFill>
                <a:latin typeface="Helios"/>
                <a:ea typeface="Helios"/>
                <a:cs typeface="Helios"/>
                <a:sym typeface="Helios"/>
              </a:rPr>
              <a:t>Many soft computing models, especially deep learning algorithms, are often seen as "black boxes," making it difficult for practitioners to interpret the results and understand the decision-making process.</a:t>
            </a:r>
          </a:p>
          <a:p>
            <a:pPr algn="l">
              <a:lnSpc>
                <a:spcPts val="3639"/>
              </a:lnSpc>
            </a:pPr>
            <a:endParaRPr lang="en-US" sz="2599">
              <a:solidFill>
                <a:srgbClr val="2A2E3A"/>
              </a:solidFill>
              <a:latin typeface="Helios"/>
              <a:ea typeface="Helios"/>
              <a:cs typeface="Helios"/>
              <a:sym typeface="Helios"/>
            </a:endParaRPr>
          </a:p>
          <a:p>
            <a:pPr marL="561339" lvl="1" indent="-280669" algn="l">
              <a:lnSpc>
                <a:spcPts val="3639"/>
              </a:lnSpc>
              <a:buFont typeface="Arial"/>
              <a:buChar char="•"/>
            </a:pPr>
            <a:r>
              <a:rPr lang="en-US" sz="2599">
                <a:solidFill>
                  <a:srgbClr val="2A2E3A"/>
                </a:solidFill>
                <a:latin typeface="Helios"/>
                <a:ea typeface="Helios"/>
                <a:cs typeface="Helios"/>
                <a:sym typeface="Helios"/>
              </a:rPr>
              <a:t>The effectiveness of soft computing techniques relies heavily on the quality and quantity of data. Poor or biased data can lead to inaccurate predictions and reinforce existing disparities.</a:t>
            </a:r>
          </a:p>
          <a:p>
            <a:pPr algn="ctr">
              <a:lnSpc>
                <a:spcPts val="3639"/>
              </a:lnSpc>
            </a:pPr>
            <a:endParaRPr lang="en-US" sz="2599">
              <a:solidFill>
                <a:srgbClr val="2A2E3A"/>
              </a:solidFill>
              <a:latin typeface="Helios"/>
              <a:ea typeface="Helios"/>
              <a:cs typeface="Helios"/>
              <a:sym typeface="Helios"/>
            </a:endParaRPr>
          </a:p>
          <a:p>
            <a:pPr marL="561339" lvl="1" indent="-280669" algn="l">
              <a:lnSpc>
                <a:spcPts val="3639"/>
              </a:lnSpc>
              <a:buFont typeface="Arial"/>
              <a:buChar char="•"/>
            </a:pPr>
            <a:r>
              <a:rPr lang="en-US" sz="2599">
                <a:solidFill>
                  <a:srgbClr val="2A2E3A"/>
                </a:solidFill>
                <a:latin typeface="Helios"/>
                <a:ea typeface="Helios"/>
                <a:cs typeface="Helios"/>
                <a:sym typeface="Helios"/>
              </a:rPr>
              <a:t>There is a risk of overfitting models to training data, which can reduce their generalizability to new, unseen data, potentially leading to incorrect assessments.</a:t>
            </a:r>
          </a:p>
          <a:p>
            <a:pPr algn="l">
              <a:lnSpc>
                <a:spcPts val="3639"/>
              </a:lnSpc>
            </a:pPr>
            <a:endParaRPr lang="en-US" sz="2599">
              <a:solidFill>
                <a:srgbClr val="2A2E3A"/>
              </a:solidFill>
              <a:latin typeface="Helios"/>
              <a:ea typeface="Helios"/>
              <a:cs typeface="Helios"/>
              <a:sym typeface="Helios"/>
            </a:endParaRPr>
          </a:p>
          <a:p>
            <a:pPr marL="561339" lvl="1" indent="-280669" algn="l">
              <a:lnSpc>
                <a:spcPts val="3639"/>
              </a:lnSpc>
              <a:buFont typeface="Arial"/>
              <a:buChar char="•"/>
            </a:pPr>
            <a:r>
              <a:rPr lang="en-US" sz="2599">
                <a:solidFill>
                  <a:srgbClr val="2A2E3A"/>
                </a:solidFill>
                <a:latin typeface="Helios"/>
                <a:ea typeface="Helios"/>
                <a:cs typeface="Helios"/>
                <a:sym typeface="Helios"/>
              </a:rPr>
              <a:t>Developing and deploying soft computing models can be resource-intensive, requiring significant computational power and expertise in data science and machine learning.</a:t>
            </a:r>
          </a:p>
          <a:p>
            <a:pPr algn="l">
              <a:lnSpc>
                <a:spcPts val="3639"/>
              </a:lnSpc>
            </a:pPr>
            <a:endParaRPr lang="en-US" sz="2599">
              <a:solidFill>
                <a:srgbClr val="2A2E3A"/>
              </a:solidFill>
              <a:latin typeface="Helios"/>
              <a:ea typeface="Helios"/>
              <a:cs typeface="Helios"/>
              <a:sym typeface="Helios"/>
            </a:endParaRPr>
          </a:p>
          <a:p>
            <a:pPr marL="561339" lvl="1" indent="-280669" algn="l">
              <a:lnSpc>
                <a:spcPts val="3639"/>
              </a:lnSpc>
              <a:buFont typeface="Arial"/>
              <a:buChar char="•"/>
            </a:pPr>
            <a:r>
              <a:rPr lang="en-US" sz="2599">
                <a:solidFill>
                  <a:srgbClr val="2A2E3A"/>
                </a:solidFill>
                <a:latin typeface="Helios"/>
                <a:ea typeface="Helios"/>
                <a:cs typeface="Helios"/>
                <a:sym typeface="Helios"/>
              </a:rPr>
              <a:t>There is a risk that mental health predictions could be misused, leading to stigmatization or discrimination against individuals identified as at risk.</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673413">
            <a:off x="12956009" y="6805723"/>
            <a:ext cx="9610089" cy="9610089"/>
          </a:xfrm>
          <a:custGeom>
            <a:avLst/>
            <a:gdLst/>
            <a:ahLst/>
            <a:cxnLst/>
            <a:rect l="l" t="t" r="r" b="b"/>
            <a:pathLst>
              <a:path w="9610089" h="9610089">
                <a:moveTo>
                  <a:pt x="0" y="0"/>
                </a:moveTo>
                <a:lnTo>
                  <a:pt x="9610089" y="0"/>
                </a:lnTo>
                <a:lnTo>
                  <a:pt x="9610089" y="9610089"/>
                </a:lnTo>
                <a:lnTo>
                  <a:pt x="0" y="9610089"/>
                </a:lnTo>
                <a:lnTo>
                  <a:pt x="0" y="0"/>
                </a:lnTo>
                <a:close/>
              </a:path>
            </a:pathLst>
          </a:custGeom>
          <a:blipFill>
            <a:blip>
              <a:alphaModFix amt="84000"/>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2977053" y="420687"/>
            <a:ext cx="5837845" cy="1139825"/>
          </a:xfrm>
          <a:prstGeom prst="rect">
            <a:avLst/>
          </a:prstGeom>
        </p:spPr>
        <p:txBody>
          <a:bodyPr lIns="0" tIns="0" rIns="0" bIns="0" rtlCol="0" anchor="t">
            <a:spAutoFit/>
          </a:bodyPr>
          <a:lstStyle/>
          <a:p>
            <a:pPr algn="l">
              <a:lnSpc>
                <a:spcPts val="9099"/>
              </a:lnSpc>
            </a:pPr>
            <a:r>
              <a:rPr lang="en-US" sz="6999" b="1">
                <a:solidFill>
                  <a:srgbClr val="1B4061"/>
                </a:solidFill>
                <a:latin typeface="Klein Bold"/>
                <a:ea typeface="Klein Bold"/>
                <a:cs typeface="Klein Bold"/>
                <a:sym typeface="Klein Bold"/>
              </a:rPr>
              <a:t>Conclusion</a:t>
            </a:r>
          </a:p>
        </p:txBody>
      </p:sp>
      <p:sp>
        <p:nvSpPr>
          <p:cNvPr id="4" name="TextBox 4"/>
          <p:cNvSpPr txBox="1"/>
          <p:nvPr/>
        </p:nvSpPr>
        <p:spPr>
          <a:xfrm>
            <a:off x="821014" y="2039900"/>
            <a:ext cx="17466986" cy="6556442"/>
          </a:xfrm>
          <a:prstGeom prst="rect">
            <a:avLst/>
          </a:prstGeom>
        </p:spPr>
        <p:txBody>
          <a:bodyPr lIns="0" tIns="0" rIns="0" bIns="0" rtlCol="0" anchor="t">
            <a:spAutoFit/>
          </a:bodyPr>
          <a:lstStyle/>
          <a:p>
            <a:pPr algn="l">
              <a:lnSpc>
                <a:spcPts val="4651"/>
              </a:lnSpc>
            </a:pPr>
            <a:r>
              <a:rPr lang="en-US" sz="3322" b="1">
                <a:solidFill>
                  <a:srgbClr val="2A2E3A"/>
                </a:solidFill>
                <a:latin typeface="Helios Bold"/>
                <a:ea typeface="Helios Bold"/>
                <a:cs typeface="Helios Bold"/>
                <a:sym typeface="Helios Bold"/>
              </a:rPr>
              <a:t>In this study, multiple machine learning and deep learning approaches were used to try and detect Mental Stress Detection</a:t>
            </a:r>
          </a:p>
          <a:p>
            <a:pPr algn="l">
              <a:lnSpc>
                <a:spcPts val="4651"/>
              </a:lnSpc>
            </a:pPr>
            <a:r>
              <a:rPr lang="en-US" sz="3322" b="1">
                <a:solidFill>
                  <a:srgbClr val="2A2E3A"/>
                </a:solidFill>
                <a:latin typeface="Helios Bold"/>
                <a:ea typeface="Helios Bold"/>
                <a:cs typeface="Helios Bold"/>
                <a:sym typeface="Helios Bold"/>
              </a:rPr>
              <a:t>. </a:t>
            </a:r>
          </a:p>
          <a:p>
            <a:pPr algn="l">
              <a:lnSpc>
                <a:spcPts val="4651"/>
              </a:lnSpc>
            </a:pPr>
            <a:r>
              <a:rPr lang="en-US" sz="3322" b="1">
                <a:solidFill>
                  <a:srgbClr val="2A2E3A"/>
                </a:solidFill>
                <a:latin typeface="Helios Bold"/>
                <a:ea typeface="Helios Bold"/>
                <a:cs typeface="Helios Bold"/>
                <a:sym typeface="Helios Bold"/>
              </a:rPr>
              <a:t>The effectiveness of the models employed for Mental illness identification on non-clinical datasets from three sets of age groups, namely children, adolescents, and adults, was examined using a variety of performance evaluation measures.</a:t>
            </a:r>
          </a:p>
          <a:p>
            <a:pPr algn="l">
              <a:lnSpc>
                <a:spcPts val="4651"/>
              </a:lnSpc>
            </a:pPr>
            <a:endParaRPr lang="en-US" sz="3322" b="1">
              <a:solidFill>
                <a:srgbClr val="2A2E3A"/>
              </a:solidFill>
              <a:latin typeface="Helios Bold"/>
              <a:ea typeface="Helios Bold"/>
              <a:cs typeface="Helios Bold"/>
              <a:sym typeface="Helios Bold"/>
            </a:endParaRPr>
          </a:p>
          <a:p>
            <a:pPr algn="l">
              <a:lnSpc>
                <a:spcPts val="4651"/>
              </a:lnSpc>
            </a:pPr>
            <a:r>
              <a:rPr lang="en-US" sz="3322" b="1">
                <a:solidFill>
                  <a:srgbClr val="2A2E3A"/>
                </a:solidFill>
                <a:latin typeface="Helios Bold"/>
                <a:ea typeface="Helios Bold"/>
                <a:cs typeface="Helios Bold"/>
                <a:sym typeface="Helios Bold"/>
              </a:rPr>
              <a:t> We believe we were able to achieve a good accuracy for each of the four diseases. </a:t>
            </a:r>
          </a:p>
          <a:p>
            <a:pPr algn="l">
              <a:lnSpc>
                <a:spcPts val="4651"/>
              </a:lnSpc>
            </a:pPr>
            <a:endParaRPr lang="en-US" sz="3322" b="1">
              <a:solidFill>
                <a:srgbClr val="2A2E3A"/>
              </a:solidFill>
              <a:latin typeface="Helios Bold"/>
              <a:ea typeface="Helios Bold"/>
              <a:cs typeface="Helios Bold"/>
              <a:sym typeface="Helios Bold"/>
            </a:endParaRPr>
          </a:p>
          <a:p>
            <a:pPr algn="l">
              <a:lnSpc>
                <a:spcPts val="4651"/>
              </a:lnSpc>
              <a:spcBef>
                <a:spcPct val="0"/>
              </a:spcBef>
            </a:pPr>
            <a:r>
              <a:rPr lang="en-US" sz="3322" b="1">
                <a:solidFill>
                  <a:srgbClr val="2A2E3A"/>
                </a:solidFill>
                <a:latin typeface="Helios Bold"/>
                <a:ea typeface="Helios Bold"/>
                <a:cs typeface="Helios Bold"/>
                <a:sym typeface="Helios Bold"/>
              </a:rPr>
              <a:t> Furthermore, in future we can add more disease and combine multiple method along with questionnaire to make this process more robust and stronger.</a:t>
            </a:r>
          </a:p>
        </p:txBody>
      </p:sp>
      <p:sp>
        <p:nvSpPr>
          <p:cNvPr id="5" name="Freeform 5"/>
          <p:cNvSpPr/>
          <p:nvPr/>
        </p:nvSpPr>
        <p:spPr>
          <a:xfrm rot="673413">
            <a:off x="-6202780" y="-4061951"/>
            <a:ext cx="9610089" cy="9610089"/>
          </a:xfrm>
          <a:custGeom>
            <a:avLst/>
            <a:gdLst/>
            <a:ahLst/>
            <a:cxnLst/>
            <a:rect l="l" t="t" r="r" b="b"/>
            <a:pathLst>
              <a:path w="9610089" h="9610089">
                <a:moveTo>
                  <a:pt x="0" y="0"/>
                </a:moveTo>
                <a:lnTo>
                  <a:pt x="9610089" y="0"/>
                </a:lnTo>
                <a:lnTo>
                  <a:pt x="9610089" y="9610089"/>
                </a:lnTo>
                <a:lnTo>
                  <a:pt x="0" y="9610089"/>
                </a:lnTo>
                <a:lnTo>
                  <a:pt x="0" y="0"/>
                </a:lnTo>
                <a:close/>
              </a:path>
            </a:pathLst>
          </a:custGeom>
          <a:blipFill>
            <a:blip>
              <a:alphaModFix amt="62000"/>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575" y="-741828"/>
            <a:ext cx="18288000" cy="1737889"/>
            <a:chOff x="0" y="0"/>
            <a:chExt cx="4816593" cy="457716"/>
          </a:xfrm>
        </p:grpSpPr>
        <p:sp>
          <p:nvSpPr>
            <p:cNvPr id="3" name="Freeform 3"/>
            <p:cNvSpPr/>
            <p:nvPr/>
          </p:nvSpPr>
          <p:spPr>
            <a:xfrm>
              <a:off x="0" y="0"/>
              <a:ext cx="4816592" cy="457716"/>
            </a:xfrm>
            <a:custGeom>
              <a:avLst/>
              <a:gdLst/>
              <a:ahLst/>
              <a:cxnLst/>
              <a:rect l="l" t="t" r="r" b="b"/>
              <a:pathLst>
                <a:path w="4816592" h="457716">
                  <a:moveTo>
                    <a:pt x="0" y="0"/>
                  </a:moveTo>
                  <a:lnTo>
                    <a:pt x="4816592" y="0"/>
                  </a:lnTo>
                  <a:lnTo>
                    <a:pt x="4816592" y="457716"/>
                  </a:lnTo>
                  <a:lnTo>
                    <a:pt x="0" y="457716"/>
                  </a:lnTo>
                  <a:close/>
                </a:path>
              </a:pathLst>
            </a:custGeom>
            <a:solidFill>
              <a:srgbClr val="F4F4F4"/>
            </a:solidFill>
          </p:spPr>
        </p:sp>
        <p:sp>
          <p:nvSpPr>
            <p:cNvPr id="4" name="TextBox 4"/>
            <p:cNvSpPr txBox="1"/>
            <p:nvPr/>
          </p:nvSpPr>
          <p:spPr>
            <a:xfrm>
              <a:off x="0" y="-38100"/>
              <a:ext cx="4816593" cy="495816"/>
            </a:xfrm>
            <a:prstGeom prst="rect">
              <a:avLst/>
            </a:prstGeom>
          </p:spPr>
          <p:txBody>
            <a:bodyPr lIns="50800" tIns="50800" rIns="50800" bIns="50800" rtlCol="0" anchor="ctr"/>
            <a:lstStyle/>
            <a:p>
              <a:pPr algn="ctr">
                <a:lnSpc>
                  <a:spcPts val="2100"/>
                </a:lnSpc>
              </a:pPr>
              <a:endParaRPr/>
            </a:p>
          </p:txBody>
        </p:sp>
      </p:grpSp>
      <p:grpSp>
        <p:nvGrpSpPr>
          <p:cNvPr id="5" name="Group 5"/>
          <p:cNvGrpSpPr/>
          <p:nvPr/>
        </p:nvGrpSpPr>
        <p:grpSpPr>
          <a:xfrm>
            <a:off x="-2572222" y="127117"/>
            <a:ext cx="13991465" cy="1803166"/>
            <a:chOff x="0" y="0"/>
            <a:chExt cx="18655286" cy="2404222"/>
          </a:xfrm>
        </p:grpSpPr>
        <p:sp>
          <p:nvSpPr>
            <p:cNvPr id="6" name="TextBox 6"/>
            <p:cNvSpPr txBox="1"/>
            <p:nvPr/>
          </p:nvSpPr>
          <p:spPr>
            <a:xfrm>
              <a:off x="0" y="-76200"/>
              <a:ext cx="18655286" cy="1494367"/>
            </a:xfrm>
            <a:prstGeom prst="rect">
              <a:avLst/>
            </a:prstGeom>
          </p:spPr>
          <p:txBody>
            <a:bodyPr lIns="0" tIns="0" rIns="0" bIns="0" rtlCol="0" anchor="t">
              <a:spAutoFit/>
            </a:bodyPr>
            <a:lstStyle/>
            <a:p>
              <a:pPr algn="ctr">
                <a:lnSpc>
                  <a:spcPts val="9099"/>
                </a:lnSpc>
              </a:pPr>
              <a:r>
                <a:rPr lang="en-US" sz="6999" b="1">
                  <a:solidFill>
                    <a:srgbClr val="2A2E3A"/>
                  </a:solidFill>
                  <a:latin typeface="Klein Bold"/>
                  <a:ea typeface="Klein Bold"/>
                  <a:cs typeface="Klein Bold"/>
                  <a:sym typeface="Klein Bold"/>
                </a:rPr>
                <a:t>References</a:t>
              </a:r>
            </a:p>
          </p:txBody>
        </p:sp>
        <p:sp>
          <p:nvSpPr>
            <p:cNvPr id="7" name="TextBox 7"/>
            <p:cNvSpPr txBox="1"/>
            <p:nvPr/>
          </p:nvSpPr>
          <p:spPr>
            <a:xfrm>
              <a:off x="0" y="1825525"/>
              <a:ext cx="18655286" cy="578697"/>
            </a:xfrm>
            <a:prstGeom prst="rect">
              <a:avLst/>
            </a:prstGeom>
          </p:spPr>
          <p:txBody>
            <a:bodyPr lIns="0" tIns="0" rIns="0" bIns="0" rtlCol="0" anchor="t">
              <a:spAutoFit/>
            </a:bodyPr>
            <a:lstStyle/>
            <a:p>
              <a:pPr marL="0" lvl="0" indent="0" algn="ctr">
                <a:lnSpc>
                  <a:spcPts val="3639"/>
                </a:lnSpc>
                <a:spcBef>
                  <a:spcPct val="0"/>
                </a:spcBef>
              </a:pPr>
              <a:endParaRPr/>
            </a:p>
          </p:txBody>
        </p:sp>
      </p:grpSp>
      <p:sp>
        <p:nvSpPr>
          <p:cNvPr id="8" name="TextBox 8"/>
          <p:cNvSpPr txBox="1"/>
          <p:nvPr/>
        </p:nvSpPr>
        <p:spPr>
          <a:xfrm>
            <a:off x="9139238" y="4535487"/>
            <a:ext cx="9525" cy="1139825"/>
          </a:xfrm>
          <a:prstGeom prst="rect">
            <a:avLst/>
          </a:prstGeom>
        </p:spPr>
        <p:txBody>
          <a:bodyPr lIns="0" tIns="0" rIns="0" bIns="0" rtlCol="0" anchor="t">
            <a:spAutoFit/>
          </a:bodyPr>
          <a:lstStyle/>
          <a:p>
            <a:pPr algn="ctr">
              <a:lnSpc>
                <a:spcPts val="9099"/>
              </a:lnSpc>
              <a:spcBef>
                <a:spcPct val="0"/>
              </a:spcBef>
            </a:pPr>
            <a:endParaRPr/>
          </a:p>
        </p:txBody>
      </p:sp>
      <p:sp>
        <p:nvSpPr>
          <p:cNvPr id="9" name="TextBox 9"/>
          <p:cNvSpPr txBox="1"/>
          <p:nvPr/>
        </p:nvSpPr>
        <p:spPr>
          <a:xfrm>
            <a:off x="9139238" y="4535487"/>
            <a:ext cx="9525" cy="1139825"/>
          </a:xfrm>
          <a:prstGeom prst="rect">
            <a:avLst/>
          </a:prstGeom>
        </p:spPr>
        <p:txBody>
          <a:bodyPr lIns="0" tIns="0" rIns="0" bIns="0" rtlCol="0" anchor="t">
            <a:spAutoFit/>
          </a:bodyPr>
          <a:lstStyle/>
          <a:p>
            <a:pPr algn="ctr">
              <a:lnSpc>
                <a:spcPts val="9099"/>
              </a:lnSpc>
              <a:spcBef>
                <a:spcPct val="0"/>
              </a:spcBef>
            </a:pPr>
            <a:endParaRPr/>
          </a:p>
        </p:txBody>
      </p:sp>
      <p:sp>
        <p:nvSpPr>
          <p:cNvPr id="10" name="TextBox 10"/>
          <p:cNvSpPr txBox="1"/>
          <p:nvPr/>
        </p:nvSpPr>
        <p:spPr>
          <a:xfrm>
            <a:off x="0" y="816927"/>
            <a:ext cx="18259425" cy="9734460"/>
          </a:xfrm>
          <a:prstGeom prst="rect">
            <a:avLst/>
          </a:prstGeom>
        </p:spPr>
        <p:txBody>
          <a:bodyPr lIns="0" tIns="0" rIns="0" bIns="0" rtlCol="0" anchor="t">
            <a:spAutoFit/>
          </a:bodyPr>
          <a:lstStyle/>
          <a:p>
            <a:pPr algn="ctr">
              <a:lnSpc>
                <a:spcPts val="5179"/>
              </a:lnSpc>
            </a:pPr>
            <a:r>
              <a:rPr lang="en-US" sz="3699" dirty="0">
                <a:solidFill>
                  <a:srgbClr val="718BAB"/>
                </a:solidFill>
                <a:latin typeface="Helios"/>
                <a:ea typeface="Helios"/>
                <a:cs typeface="Helios"/>
                <a:sym typeface="Helios"/>
              </a:rPr>
              <a:t>Reference 1</a:t>
            </a:r>
          </a:p>
          <a:p>
            <a:pPr algn="ctr">
              <a:lnSpc>
                <a:spcPts val="3079"/>
              </a:lnSpc>
            </a:pPr>
            <a:r>
              <a:rPr lang="en-US" sz="2199" dirty="0">
                <a:solidFill>
                  <a:srgbClr val="2A2E3A"/>
                </a:solidFill>
                <a:latin typeface="Helios"/>
                <a:ea typeface="Helios"/>
                <a:cs typeface="Helios"/>
                <a:sym typeface="Helios"/>
              </a:rPr>
              <a:t>Title: Machine Learning Models Based Mental Health Detection (2022)</a:t>
            </a:r>
          </a:p>
          <a:p>
            <a:pPr algn="ctr">
              <a:lnSpc>
                <a:spcPts val="3079"/>
              </a:lnSpc>
            </a:pPr>
            <a:r>
              <a:rPr lang="en-US" sz="2199" dirty="0">
                <a:solidFill>
                  <a:srgbClr val="2A2E3A"/>
                </a:solidFill>
                <a:latin typeface="Helios"/>
                <a:ea typeface="Helios"/>
                <a:cs typeface="Helios"/>
                <a:sym typeface="Helios"/>
              </a:rPr>
              <a:t>Summary: This study employs machine learning algorithms to screen mental health using a Mental Disorder Questionnaire (MDQ). The system automates mental health assessment, potentially increasing efficiency and accessibility. </a:t>
            </a:r>
            <a:r>
              <a:rPr lang="en-US" sz="2199">
                <a:solidFill>
                  <a:srgbClr val="2A2E3A"/>
                </a:solidFill>
                <a:latin typeface="Helios"/>
                <a:ea typeface="Helios"/>
                <a:cs typeface="Helios"/>
                <a:sym typeface="Helios"/>
              </a:rPr>
              <a:t>However, its accuracy depends on the quality and honesty of  responses.</a:t>
            </a:r>
          </a:p>
          <a:p>
            <a:pPr algn="ctr">
              <a:lnSpc>
                <a:spcPts val="3079"/>
              </a:lnSpc>
            </a:pPr>
            <a:endParaRPr lang="en-US" sz="2199" dirty="0">
              <a:solidFill>
                <a:srgbClr val="2A2E3A"/>
              </a:solidFill>
              <a:latin typeface="Helios"/>
              <a:ea typeface="Helios"/>
              <a:cs typeface="Helios"/>
              <a:sym typeface="Helios"/>
            </a:endParaRPr>
          </a:p>
          <a:p>
            <a:pPr algn="ctr">
              <a:lnSpc>
                <a:spcPts val="5040"/>
              </a:lnSpc>
            </a:pPr>
            <a:r>
              <a:rPr lang="en-US" sz="3600" dirty="0">
                <a:solidFill>
                  <a:srgbClr val="718BAB"/>
                </a:solidFill>
                <a:latin typeface="Helios"/>
                <a:ea typeface="Helios"/>
                <a:cs typeface="Helios"/>
                <a:sym typeface="Helios"/>
              </a:rPr>
              <a:t>Reference 2</a:t>
            </a:r>
          </a:p>
          <a:p>
            <a:pPr algn="ctr">
              <a:lnSpc>
                <a:spcPts val="3079"/>
              </a:lnSpc>
            </a:pPr>
            <a:r>
              <a:rPr lang="en-US" sz="2199" dirty="0">
                <a:solidFill>
                  <a:srgbClr val="2A2E3A"/>
                </a:solidFill>
                <a:latin typeface="Helios"/>
                <a:ea typeface="Helios"/>
                <a:cs typeface="Helios"/>
                <a:sym typeface="Helios"/>
              </a:rPr>
              <a:t>Title: Detection and Prediction of Future Mental Disorder from Social Media Data (2023)</a:t>
            </a:r>
          </a:p>
          <a:p>
            <a:pPr algn="ctr">
              <a:lnSpc>
                <a:spcPts val="3079"/>
              </a:lnSpc>
            </a:pPr>
            <a:r>
              <a:rPr lang="en-US" sz="2199" dirty="0">
                <a:solidFill>
                  <a:srgbClr val="2A2E3A"/>
                </a:solidFill>
                <a:latin typeface="Helios"/>
                <a:ea typeface="Helios"/>
                <a:cs typeface="Helios"/>
                <a:sym typeface="Helios"/>
              </a:rPr>
              <a:t>Summary: This study deploys nineteen different models to detect and predict mental disorders from social media data. It leverages real-time social media insights for timely detection but faces challenges related to privacy concerns and content misinterpretation.</a:t>
            </a:r>
          </a:p>
          <a:p>
            <a:pPr algn="ctr">
              <a:lnSpc>
                <a:spcPts val="3079"/>
              </a:lnSpc>
            </a:pPr>
            <a:endParaRPr lang="en-US" sz="2199" dirty="0">
              <a:solidFill>
                <a:srgbClr val="2A2E3A"/>
              </a:solidFill>
              <a:latin typeface="Helios"/>
              <a:ea typeface="Helios"/>
              <a:cs typeface="Helios"/>
              <a:sym typeface="Helios"/>
            </a:endParaRPr>
          </a:p>
          <a:p>
            <a:pPr algn="ctr">
              <a:lnSpc>
                <a:spcPts val="5179"/>
              </a:lnSpc>
            </a:pPr>
            <a:r>
              <a:rPr lang="en-US" sz="3699" dirty="0">
                <a:solidFill>
                  <a:srgbClr val="718BAB"/>
                </a:solidFill>
                <a:latin typeface="Helios"/>
                <a:ea typeface="Helios"/>
                <a:cs typeface="Helios"/>
                <a:sym typeface="Helios"/>
              </a:rPr>
              <a:t>Reference 3</a:t>
            </a:r>
          </a:p>
          <a:p>
            <a:pPr algn="ctr">
              <a:lnSpc>
                <a:spcPts val="3079"/>
              </a:lnSpc>
            </a:pPr>
            <a:r>
              <a:rPr lang="en-US" sz="2199" dirty="0">
                <a:solidFill>
                  <a:srgbClr val="2A2E3A"/>
                </a:solidFill>
                <a:latin typeface="Helios"/>
                <a:ea typeface="Helios"/>
                <a:cs typeface="Helios"/>
                <a:sym typeface="Helios"/>
              </a:rPr>
              <a:t>Title: Application of Machine Learning Methods in Mental Health Detection: A Systematic Review (2020)</a:t>
            </a:r>
          </a:p>
          <a:p>
            <a:pPr algn="ctr">
              <a:lnSpc>
                <a:spcPts val="3079"/>
              </a:lnSpc>
            </a:pPr>
            <a:r>
              <a:rPr lang="en-US" sz="2199" dirty="0">
                <a:solidFill>
                  <a:srgbClr val="2A2E3A"/>
                </a:solidFill>
                <a:latin typeface="Helios"/>
                <a:ea typeface="Helios"/>
                <a:cs typeface="Helios"/>
                <a:sym typeface="Helios"/>
              </a:rPr>
              <a:t>Summary: This paper provides a comprehensive review of mental health detection in online social networks, analyzing data sources and machine learning techniques. It highlights current research gaps but does not introduce new empirical data.</a:t>
            </a:r>
          </a:p>
          <a:p>
            <a:pPr algn="ctr">
              <a:lnSpc>
                <a:spcPts val="3079"/>
              </a:lnSpc>
            </a:pPr>
            <a:endParaRPr lang="en-US" sz="2199" dirty="0">
              <a:solidFill>
                <a:srgbClr val="2A2E3A"/>
              </a:solidFill>
              <a:latin typeface="Helios"/>
              <a:ea typeface="Helios"/>
              <a:cs typeface="Helios"/>
              <a:sym typeface="Helios"/>
            </a:endParaRPr>
          </a:p>
          <a:p>
            <a:pPr algn="ctr">
              <a:lnSpc>
                <a:spcPts val="5040"/>
              </a:lnSpc>
            </a:pPr>
            <a:r>
              <a:rPr lang="en-US" sz="3600" dirty="0">
                <a:solidFill>
                  <a:srgbClr val="718BAB"/>
                </a:solidFill>
                <a:latin typeface="Helios"/>
                <a:ea typeface="Helios"/>
                <a:cs typeface="Helios"/>
                <a:sym typeface="Helios"/>
              </a:rPr>
              <a:t>Reference 4</a:t>
            </a:r>
          </a:p>
          <a:p>
            <a:pPr algn="ctr">
              <a:lnSpc>
                <a:spcPts val="3079"/>
              </a:lnSpc>
            </a:pPr>
            <a:r>
              <a:rPr lang="en-US" sz="2199" dirty="0">
                <a:solidFill>
                  <a:srgbClr val="2A2E3A"/>
                </a:solidFill>
                <a:latin typeface="Helios"/>
                <a:ea typeface="Helios"/>
                <a:cs typeface="Helios"/>
                <a:sym typeface="Helios"/>
              </a:rPr>
              <a:t>Title: Mental Health State Detection Using OpenCV and Sentiment Analysis (2021)</a:t>
            </a:r>
          </a:p>
          <a:p>
            <a:pPr algn="ctr">
              <a:lnSpc>
                <a:spcPts val="3079"/>
              </a:lnSpc>
            </a:pPr>
            <a:r>
              <a:rPr lang="en-US" sz="2199" dirty="0">
                <a:solidFill>
                  <a:srgbClr val="2A2E3A"/>
                </a:solidFill>
                <a:latin typeface="Helios"/>
                <a:ea typeface="Helios"/>
                <a:cs typeface="Helios"/>
                <a:sym typeface="Helios"/>
              </a:rPr>
              <a:t>Summary: This study integrates OpenCV for facial recognition and sentiment analysis to predict an individual’s mental health state. While it provides a holistic assessment combining visual and textual data, it requires access to both, which may not always be feasible.</a:t>
            </a:r>
          </a:p>
          <a:p>
            <a:pPr algn="ctr">
              <a:lnSpc>
                <a:spcPts val="3079"/>
              </a:lnSpc>
            </a:pPr>
            <a:endParaRPr lang="en-US" sz="2199" dirty="0">
              <a:solidFill>
                <a:srgbClr val="2A2E3A"/>
              </a:solidFill>
              <a:latin typeface="Helios"/>
              <a:ea typeface="Helios"/>
              <a:cs typeface="Helios"/>
              <a:sym typeface="Helios"/>
            </a:endParaRPr>
          </a:p>
          <a:p>
            <a:pPr algn="ctr">
              <a:lnSpc>
                <a:spcPts val="3079"/>
              </a:lnSpc>
            </a:pPr>
            <a:endParaRPr lang="en-US" sz="2199" dirty="0">
              <a:solidFill>
                <a:srgbClr val="2A2E3A"/>
              </a:solidFill>
              <a:latin typeface="Helios"/>
              <a:ea typeface="Helios"/>
              <a:cs typeface="Helios"/>
              <a:sym typeface="Helios"/>
            </a:endParaRPr>
          </a:p>
        </p:txBody>
      </p:sp>
      <p:sp>
        <p:nvSpPr>
          <p:cNvPr id="11" name="TextBox 11"/>
          <p:cNvSpPr txBox="1"/>
          <p:nvPr/>
        </p:nvSpPr>
        <p:spPr>
          <a:xfrm>
            <a:off x="3254830" y="5094922"/>
            <a:ext cx="10426395" cy="580390"/>
          </a:xfrm>
          <a:prstGeom prst="rect">
            <a:avLst/>
          </a:prstGeom>
        </p:spPr>
        <p:txBody>
          <a:bodyPr lIns="0" tIns="0" rIns="0" bIns="0" rtlCol="0" anchor="t">
            <a:spAutoFit/>
          </a:bodyPr>
          <a:lstStyle/>
          <a:p>
            <a:pPr algn="ctr">
              <a:lnSpc>
                <a:spcPts val="4759"/>
              </a:lnSpc>
            </a:pPr>
            <a:r>
              <a:rPr lang="en-US" sz="3399">
                <a:solidFill>
                  <a:srgbClr val="56AEFF"/>
                </a:solidFill>
                <a:latin typeface="Canva Sans"/>
                <a:ea typeface="Canva Sans"/>
                <a:cs typeface="Canva Sans"/>
                <a:sym typeface="Canva Sans"/>
              </a:rPr>
              <a:t> </a:t>
            </a:r>
            <a:r>
              <a:rPr lang="en-US" sz="3399" u="sng">
                <a:solidFill>
                  <a:srgbClr val="56AEFF"/>
                </a:solidFill>
                <a:latin typeface="Canva Sans"/>
                <a:ea typeface="Canva Sans"/>
                <a:cs typeface="Canva Sans"/>
                <a:sym typeface="Canva Sans"/>
                <a:hlinkClick r:id="rId2" tooltip="https://ieeexplore.ieee.org/document/10540133"/>
              </a:rPr>
              <a:t>https://ieeexplore.ieee.org/document/10540133</a:t>
            </a:r>
          </a:p>
        </p:txBody>
      </p:sp>
      <p:sp>
        <p:nvSpPr>
          <p:cNvPr id="12" name="TextBox 12"/>
          <p:cNvSpPr txBox="1"/>
          <p:nvPr/>
        </p:nvSpPr>
        <p:spPr>
          <a:xfrm>
            <a:off x="3954104" y="2947453"/>
            <a:ext cx="9727431" cy="580380"/>
          </a:xfrm>
          <a:prstGeom prst="rect">
            <a:avLst/>
          </a:prstGeom>
        </p:spPr>
        <p:txBody>
          <a:bodyPr lIns="0" tIns="0" rIns="0" bIns="0" rtlCol="0" anchor="t">
            <a:spAutoFit/>
          </a:bodyPr>
          <a:lstStyle/>
          <a:p>
            <a:pPr algn="ctr">
              <a:lnSpc>
                <a:spcPts val="4759"/>
              </a:lnSpc>
            </a:pPr>
            <a:r>
              <a:rPr lang="en-US" sz="3399" u="sng">
                <a:solidFill>
                  <a:srgbClr val="56AEFF"/>
                </a:solidFill>
                <a:latin typeface="Canva Sans"/>
                <a:ea typeface="Canva Sans"/>
                <a:cs typeface="Canva Sans"/>
                <a:sym typeface="Canva Sans"/>
                <a:hlinkClick r:id="rId3" tooltip="https://ieeexplore.ieee.org/document/9917622"/>
              </a:rPr>
              <a:t>https://ieeexplore.ieee.org/document/9917622</a:t>
            </a:r>
          </a:p>
        </p:txBody>
      </p:sp>
      <p:sp>
        <p:nvSpPr>
          <p:cNvPr id="13" name="TextBox 13"/>
          <p:cNvSpPr txBox="1"/>
          <p:nvPr/>
        </p:nvSpPr>
        <p:spPr>
          <a:xfrm>
            <a:off x="3952509" y="7400766"/>
            <a:ext cx="9728716" cy="580390"/>
          </a:xfrm>
          <a:prstGeom prst="rect">
            <a:avLst/>
          </a:prstGeom>
        </p:spPr>
        <p:txBody>
          <a:bodyPr lIns="0" tIns="0" rIns="0" bIns="0" rtlCol="0" anchor="t">
            <a:spAutoFit/>
          </a:bodyPr>
          <a:lstStyle/>
          <a:p>
            <a:pPr algn="ctr">
              <a:lnSpc>
                <a:spcPts val="4759"/>
              </a:lnSpc>
            </a:pPr>
            <a:r>
              <a:rPr lang="en-US" sz="3399" u="sng">
                <a:solidFill>
                  <a:srgbClr val="56AEFF"/>
                </a:solidFill>
                <a:latin typeface="Canva Sans"/>
                <a:ea typeface="Canva Sans"/>
                <a:cs typeface="Canva Sans"/>
                <a:sym typeface="Canva Sans"/>
                <a:hlinkClick r:id="rId4" tooltip="https://ieeexplore.ieee.org/document/9214815"/>
              </a:rPr>
              <a:t>https://ieeexplore.ieee.org/document/9214815</a:t>
            </a:r>
          </a:p>
        </p:txBody>
      </p:sp>
      <p:sp>
        <p:nvSpPr>
          <p:cNvPr id="14" name="TextBox 14"/>
          <p:cNvSpPr txBox="1"/>
          <p:nvPr/>
        </p:nvSpPr>
        <p:spPr>
          <a:xfrm>
            <a:off x="3954414" y="9552781"/>
            <a:ext cx="9789914" cy="580390"/>
          </a:xfrm>
          <a:prstGeom prst="rect">
            <a:avLst/>
          </a:prstGeom>
        </p:spPr>
        <p:txBody>
          <a:bodyPr lIns="0" tIns="0" rIns="0" bIns="0" rtlCol="0" anchor="t">
            <a:spAutoFit/>
          </a:bodyPr>
          <a:lstStyle/>
          <a:p>
            <a:pPr algn="ctr">
              <a:lnSpc>
                <a:spcPts val="4759"/>
              </a:lnSpc>
            </a:pPr>
            <a:r>
              <a:rPr lang="en-US" sz="3399" u="sng">
                <a:solidFill>
                  <a:srgbClr val="56AEFF"/>
                </a:solidFill>
                <a:latin typeface="Canva Sans"/>
                <a:ea typeface="Canva Sans"/>
                <a:cs typeface="Canva Sans"/>
                <a:sym typeface="Canva Sans"/>
                <a:hlinkClick r:id="rId5" tooltip="https://ieeexplore.ieee.org/document/9315984"/>
              </a:rPr>
              <a:t>https://ieeexplore.ieee.org/document/9315984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1532</Words>
  <Application>Microsoft Office PowerPoint</Application>
  <PresentationFormat>Custom</PresentationFormat>
  <Paragraphs>147</Paragraphs>
  <Slides>13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vt:i4>
      </vt:variant>
    </vt:vector>
  </HeadingPairs>
  <TitlesOfParts>
    <vt:vector size="23" baseType="lpstr">
      <vt:lpstr>TAN Headline</vt:lpstr>
      <vt:lpstr>Helios</vt:lpstr>
      <vt:lpstr>Calibri</vt:lpstr>
      <vt:lpstr>Klein Bold</vt:lpstr>
      <vt:lpstr>Heading Now 71-78</vt:lpstr>
      <vt:lpstr>Helios Bold</vt:lpstr>
      <vt:lpstr>Canva Sans</vt:lpstr>
      <vt:lpstr>Canva Sans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Profile Presentation</dc:title>
  <dc:creator>satwik badana</dc:creator>
  <cp:lastModifiedBy>Salike Kranthi Kowshik</cp:lastModifiedBy>
  <cp:revision>6</cp:revision>
  <dcterms:created xsi:type="dcterms:W3CDTF">2006-08-16T00:00:00Z</dcterms:created>
  <dcterms:modified xsi:type="dcterms:W3CDTF">2026-07-08T05:07:48Z</dcterms:modified>
  <dc:identifier>DAGfqevxwBw</dc:identifier>
</cp:coreProperties>
</file>